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slideLayouts/slideLayout7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88952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41463-82A0-5A59-C4D8-6066EEBB2F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86EDB2-E403-BE80-6649-C1B1E07FF3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FD0EC1-E843-204E-A1E3-7B92EABAED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793677-7F19-BD7C-EC85-9865FA3FC8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3BB6C5-10C3-6B55-AA86-7D69FE6210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5CEAD-0679-2204-4626-9D06BED14A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6E4A55-F25F-62DE-972E-18D54B2299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BC05-F549-6D70-F17A-B50EC5CBF8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AADBF1-21F9-7F51-1000-9243708018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F4C10D-4C1B-612B-410E-CF6BA4CBDE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7959B6-91AC-DE3C-6823-631A629574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2D54FB-A4BA-FCE3-B3E8-078A38E71E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1D6EE-D2AB-2B09-5C25-E01557B441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AB00D-FE90-09C0-4919-63E0BA456D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91546A-8742-2A79-E65B-FCAA6F90A2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6F8758-8F51-8393-C08A-4B7B088787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50938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51787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606424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192202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73503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7621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60492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6214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575074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90297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00489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59528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898250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886864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35919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3157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720719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17903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37485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226288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50812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3032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83526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530924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362075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22349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624102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6443011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160738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5920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29568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1833156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27268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85087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8602915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6069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21500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557882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514579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664307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808496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86956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83509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736637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5843864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48892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282513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71591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1130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057991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7266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667896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14631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94678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40740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0734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224630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3268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37024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13339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561674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0163691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669081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041973" name="Rectangle 1"/>
          <p:cNvSpPr/>
          <p:nvPr/>
        </p:nvSpPr>
        <p:spPr bwMode="auto"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1875005" name="Rectangle 2"/>
          <p:cNvSpPr/>
          <p:nvPr/>
        </p:nvSpPr>
        <p:spPr bwMode="auto">
          <a:xfrm>
            <a:off x="1371600" y="1005840"/>
            <a:ext cx="9445752" cy="45720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6606806" name="Rectangle 3"/>
          <p:cNvSpPr/>
          <p:nvPr/>
        </p:nvSpPr>
        <p:spPr bwMode="auto">
          <a:xfrm>
            <a:off x="1371600" y="1005840"/>
            <a:ext cx="109728" cy="457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3570984" name="TextBox 4"/>
          <p:cNvSpPr txBox="1"/>
          <p:nvPr/>
        </p:nvSpPr>
        <p:spPr bwMode="auto">
          <a:xfrm>
            <a:off x="1828800" y="1280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5200" b="1" i="0">
                <a:solidFill>
                  <a:srgbClr val="FFFFFF"/>
                </a:solidFill>
              </a:rPr>
              <a:t>S4 ASSESSORIA</a:t>
            </a:r>
            <a:endParaRPr/>
          </a:p>
        </p:txBody>
      </p:sp>
      <p:sp>
        <p:nvSpPr>
          <p:cNvPr id="613268108" name="TextBox 5"/>
          <p:cNvSpPr txBox="1"/>
          <p:nvPr/>
        </p:nvSpPr>
        <p:spPr bwMode="auto">
          <a:xfrm>
            <a:off x="1828800" y="21488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000" b="0" i="1">
                <a:solidFill>
                  <a:srgbClr val="3B82F6"/>
                </a:solidFill>
              </a:rPr>
              <a:t>Gestão e Tecnologia para PMEs</a:t>
            </a:r>
            <a:endParaRPr/>
          </a:p>
        </p:txBody>
      </p:sp>
      <p:sp>
        <p:nvSpPr>
          <p:cNvPr id="1573584902" name="Rectangle 6"/>
          <p:cNvSpPr/>
          <p:nvPr/>
        </p:nvSpPr>
        <p:spPr bwMode="auto">
          <a:xfrm>
            <a:off x="2286000" y="2788920"/>
            <a:ext cx="76169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0363916" name="TextBox 7"/>
          <p:cNvSpPr txBox="1"/>
          <p:nvPr/>
        </p:nvSpPr>
        <p:spPr bwMode="auto">
          <a:xfrm>
            <a:off x="1828800" y="29260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0" i="0">
                <a:solidFill>
                  <a:srgbClr val="8A9BB0"/>
                </a:solidFill>
              </a:rPr>
              <a:t>Trabalho de Disciplina: Arquitetura de Software</a:t>
            </a:r>
            <a:endParaRPr/>
          </a:p>
        </p:txBody>
      </p:sp>
      <p:sp>
        <p:nvSpPr>
          <p:cNvPr id="433326474" name="Rectangle 8"/>
          <p:cNvSpPr/>
          <p:nvPr/>
        </p:nvSpPr>
        <p:spPr bwMode="auto">
          <a:xfrm>
            <a:off x="1920240" y="3493008"/>
            <a:ext cx="160020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6053675" name="TextBox 9"/>
          <p:cNvSpPr txBox="1"/>
          <p:nvPr/>
        </p:nvSpPr>
        <p:spPr bwMode="auto">
          <a:xfrm>
            <a:off x="1965960" y="3511296"/>
            <a:ext cx="1508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Clean Code</a:t>
            </a:r>
            <a:endParaRPr/>
          </a:p>
        </p:txBody>
      </p:sp>
      <p:sp>
        <p:nvSpPr>
          <p:cNvPr id="1446259081" name="Rectangle 10"/>
          <p:cNvSpPr/>
          <p:nvPr/>
        </p:nvSpPr>
        <p:spPr bwMode="auto">
          <a:xfrm>
            <a:off x="3602735" y="3493008"/>
            <a:ext cx="160020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1901951" name="TextBox 11"/>
          <p:cNvSpPr txBox="1"/>
          <p:nvPr/>
        </p:nvSpPr>
        <p:spPr bwMode="auto">
          <a:xfrm>
            <a:off x="3648456" y="3511296"/>
            <a:ext cx="1508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TDD</a:t>
            </a:r>
            <a:endParaRPr/>
          </a:p>
        </p:txBody>
      </p:sp>
      <p:sp>
        <p:nvSpPr>
          <p:cNvPr id="2086707721" name="Rectangle 12"/>
          <p:cNvSpPr/>
          <p:nvPr/>
        </p:nvSpPr>
        <p:spPr bwMode="auto">
          <a:xfrm>
            <a:off x="5285232" y="3493008"/>
            <a:ext cx="160020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4966357" name="TextBox 13"/>
          <p:cNvSpPr txBox="1"/>
          <p:nvPr/>
        </p:nvSpPr>
        <p:spPr bwMode="auto">
          <a:xfrm>
            <a:off x="5330952" y="3511296"/>
            <a:ext cx="1508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BDD</a:t>
            </a:r>
            <a:endParaRPr/>
          </a:p>
        </p:txBody>
      </p:sp>
      <p:sp>
        <p:nvSpPr>
          <p:cNvPr id="1087888655" name="Rectangle 14"/>
          <p:cNvSpPr/>
          <p:nvPr/>
        </p:nvSpPr>
        <p:spPr bwMode="auto">
          <a:xfrm>
            <a:off x="6967728" y="3493008"/>
            <a:ext cx="16002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6743674" name="TextBox 15"/>
          <p:cNvSpPr txBox="1"/>
          <p:nvPr/>
        </p:nvSpPr>
        <p:spPr bwMode="auto">
          <a:xfrm>
            <a:off x="7013448" y="3511296"/>
            <a:ext cx="1508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Microserviços</a:t>
            </a:r>
            <a:endParaRPr/>
          </a:p>
        </p:txBody>
      </p:sp>
      <p:sp>
        <p:nvSpPr>
          <p:cNvPr id="2017284533" name="Rectangle 16"/>
          <p:cNvSpPr/>
          <p:nvPr/>
        </p:nvSpPr>
        <p:spPr bwMode="auto">
          <a:xfrm>
            <a:off x="8650224" y="3493008"/>
            <a:ext cx="16002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1602526" name="TextBox 17"/>
          <p:cNvSpPr txBox="1"/>
          <p:nvPr/>
        </p:nvSpPr>
        <p:spPr bwMode="auto">
          <a:xfrm>
            <a:off x="8695944" y="3511296"/>
            <a:ext cx="1508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Segurança</a:t>
            </a:r>
            <a:endParaRPr/>
          </a:p>
        </p:txBody>
      </p:sp>
      <p:sp>
        <p:nvSpPr>
          <p:cNvPr id="1721002902" name="TextBox 18"/>
          <p:cNvSpPr txBox="1"/>
          <p:nvPr/>
        </p:nvSpPr>
        <p:spPr bwMode="auto">
          <a:xfrm>
            <a:off x="1828800" y="416051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E2E8F0"/>
                </a:solidFill>
              </a:rPr>
              <a:t>Autor: Sérgio Murilo Nogueira</a:t>
            </a:r>
            <a:endParaRPr/>
          </a:p>
        </p:txBody>
      </p:sp>
      <p:sp>
        <p:nvSpPr>
          <p:cNvPr id="1520827476" name="TextBox 19"/>
          <p:cNvSpPr txBox="1"/>
          <p:nvPr/>
        </p:nvSpPr>
        <p:spPr bwMode="auto">
          <a:xfrm>
            <a:off x="1828800" y="4498848"/>
            <a:ext cx="8687520" cy="289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0">
                <a:solidFill>
                  <a:srgbClr val="8A9BB0"/>
                </a:solidFill>
              </a:rPr>
              <a:t>Professor: Marcio Garrido  |  Univassoras  |  2026</a:t>
            </a:r>
            <a:endParaRPr/>
          </a:p>
        </p:txBody>
      </p:sp>
      <p:sp>
        <p:nvSpPr>
          <p:cNvPr id="390014959" name="TextBox 20"/>
          <p:cNvSpPr txBox="1"/>
          <p:nvPr/>
        </p:nvSpPr>
        <p:spPr bwMode="auto">
          <a:xfrm>
            <a:off x="1828800" y="489203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0">
                <a:solidFill>
                  <a:srgbClr val="3B82F6"/>
                </a:solidFill>
              </a:rPr>
              <a:t>s4assessoria.com.br  |  github.com/MuriloTBS/s4-assessoria</a:t>
            </a:r>
            <a:endParaRPr/>
          </a:p>
        </p:txBody>
      </p:sp>
      <p:sp>
        <p:nvSpPr>
          <p:cNvPr id="485854187" name="Rectangle 21"/>
          <p:cNvSpPr/>
          <p:nvPr/>
        </p:nvSpPr>
        <p:spPr bwMode="auto"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0144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462473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2664454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Sumário</a:t>
            </a:r>
            <a:endParaRPr/>
          </a:p>
        </p:txBody>
      </p:sp>
      <p:sp>
        <p:nvSpPr>
          <p:cNvPr id="766271841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Estrutura da Apresentação</a:t>
            </a:r>
            <a:endParaRPr/>
          </a:p>
        </p:txBody>
      </p:sp>
      <p:sp>
        <p:nvSpPr>
          <p:cNvPr id="1637940363" name="Rectangle 5"/>
          <p:cNvSpPr/>
          <p:nvPr/>
        </p:nvSpPr>
        <p:spPr bwMode="auto">
          <a:xfrm>
            <a:off x="457200" y="1417320"/>
            <a:ext cx="5577840" cy="74980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2678176" name="Rectangle 6"/>
          <p:cNvSpPr/>
          <p:nvPr/>
        </p:nvSpPr>
        <p:spPr bwMode="auto">
          <a:xfrm>
            <a:off x="457200" y="1417320"/>
            <a:ext cx="502920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1054398" name="TextBox 7"/>
          <p:cNvSpPr txBox="1"/>
          <p:nvPr/>
        </p:nvSpPr>
        <p:spPr bwMode="auto">
          <a:xfrm>
            <a:off x="502920" y="158191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FFFFFF"/>
                </a:solidFill>
              </a:rPr>
              <a:t>01</a:t>
            </a:r>
            <a:endParaRPr/>
          </a:p>
        </p:txBody>
      </p:sp>
      <p:sp>
        <p:nvSpPr>
          <p:cNvPr id="1325282559" name="TextBox 8"/>
          <p:cNvSpPr txBox="1"/>
          <p:nvPr/>
        </p:nvSpPr>
        <p:spPr bwMode="auto">
          <a:xfrm>
            <a:off x="1051560" y="16184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E2E8F0"/>
                </a:solidFill>
              </a:rPr>
              <a:t>Visão Geral do Projeto</a:t>
            </a:r>
            <a:endParaRPr/>
          </a:p>
        </p:txBody>
      </p:sp>
      <p:sp>
        <p:nvSpPr>
          <p:cNvPr id="763893928" name="Rectangle 9"/>
          <p:cNvSpPr/>
          <p:nvPr/>
        </p:nvSpPr>
        <p:spPr bwMode="auto">
          <a:xfrm>
            <a:off x="457200" y="2377440"/>
            <a:ext cx="5577840" cy="74980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0571914" name="Rectangle 10"/>
          <p:cNvSpPr/>
          <p:nvPr/>
        </p:nvSpPr>
        <p:spPr bwMode="auto">
          <a:xfrm>
            <a:off x="457200" y="2377440"/>
            <a:ext cx="502920" cy="7498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045248" name="TextBox 11"/>
          <p:cNvSpPr txBox="1"/>
          <p:nvPr/>
        </p:nvSpPr>
        <p:spPr bwMode="auto">
          <a:xfrm>
            <a:off x="502920" y="254203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FFFFFF"/>
                </a:solidFill>
              </a:rPr>
              <a:t>02</a:t>
            </a:r>
            <a:endParaRPr/>
          </a:p>
        </p:txBody>
      </p:sp>
      <p:sp>
        <p:nvSpPr>
          <p:cNvPr id="952869490" name="TextBox 12"/>
          <p:cNvSpPr txBox="1"/>
          <p:nvPr/>
        </p:nvSpPr>
        <p:spPr bwMode="auto">
          <a:xfrm>
            <a:off x="1051560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E2E8F0"/>
                </a:solidFill>
              </a:rPr>
              <a:t>Arquitetura do Sistema</a:t>
            </a:r>
            <a:endParaRPr/>
          </a:p>
        </p:txBody>
      </p:sp>
      <p:sp>
        <p:nvSpPr>
          <p:cNvPr id="1593415192" name="Rectangle 13"/>
          <p:cNvSpPr/>
          <p:nvPr/>
        </p:nvSpPr>
        <p:spPr bwMode="auto">
          <a:xfrm>
            <a:off x="457200" y="3337560"/>
            <a:ext cx="5577840" cy="74980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6531685" name="Rectangle 14"/>
          <p:cNvSpPr/>
          <p:nvPr/>
        </p:nvSpPr>
        <p:spPr bwMode="auto">
          <a:xfrm>
            <a:off x="457200" y="3337560"/>
            <a:ext cx="502920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0357831" name="TextBox 15"/>
          <p:cNvSpPr txBox="1"/>
          <p:nvPr/>
        </p:nvSpPr>
        <p:spPr bwMode="auto">
          <a:xfrm>
            <a:off x="502920" y="35021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FFFFFF"/>
                </a:solidFill>
              </a:rPr>
              <a:t>03</a:t>
            </a:r>
            <a:endParaRPr/>
          </a:p>
        </p:txBody>
      </p:sp>
      <p:sp>
        <p:nvSpPr>
          <p:cNvPr id="536276178" name="TextBox 16"/>
          <p:cNvSpPr txBox="1"/>
          <p:nvPr/>
        </p:nvSpPr>
        <p:spPr bwMode="auto">
          <a:xfrm>
            <a:off x="1051560" y="35387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E2E8F0"/>
                </a:solidFill>
              </a:rPr>
              <a:t>Clean Code</a:t>
            </a:r>
            <a:endParaRPr/>
          </a:p>
        </p:txBody>
      </p:sp>
      <p:sp>
        <p:nvSpPr>
          <p:cNvPr id="2059685159" name="Rectangle 17"/>
          <p:cNvSpPr/>
          <p:nvPr/>
        </p:nvSpPr>
        <p:spPr bwMode="auto">
          <a:xfrm>
            <a:off x="457200" y="4297680"/>
            <a:ext cx="5577840" cy="74980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4119491" name="Rectangle 18"/>
          <p:cNvSpPr/>
          <p:nvPr/>
        </p:nvSpPr>
        <p:spPr bwMode="auto">
          <a:xfrm>
            <a:off x="457200" y="4297680"/>
            <a:ext cx="502920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5648216" name="TextBox 19"/>
          <p:cNvSpPr txBox="1"/>
          <p:nvPr/>
        </p:nvSpPr>
        <p:spPr bwMode="auto">
          <a:xfrm>
            <a:off x="502920" y="446227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FFFFFF"/>
                </a:solidFill>
              </a:rPr>
              <a:t>04</a:t>
            </a:r>
            <a:endParaRPr/>
          </a:p>
        </p:txBody>
      </p:sp>
      <p:sp>
        <p:nvSpPr>
          <p:cNvPr id="2095767363" name="TextBox 20"/>
          <p:cNvSpPr txBox="1"/>
          <p:nvPr/>
        </p:nvSpPr>
        <p:spPr bwMode="auto">
          <a:xfrm>
            <a:off x="1051560" y="44988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E2E8F0"/>
                </a:solidFill>
              </a:rPr>
              <a:t>TDD — Test-Driven Development</a:t>
            </a:r>
            <a:endParaRPr/>
          </a:p>
        </p:txBody>
      </p:sp>
      <p:sp>
        <p:nvSpPr>
          <p:cNvPr id="1764252306" name="Rectangle 21"/>
          <p:cNvSpPr/>
          <p:nvPr/>
        </p:nvSpPr>
        <p:spPr bwMode="auto">
          <a:xfrm>
            <a:off x="457200" y="5257800"/>
            <a:ext cx="5577840" cy="74980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5515059" name="Rectangle 22"/>
          <p:cNvSpPr/>
          <p:nvPr/>
        </p:nvSpPr>
        <p:spPr bwMode="auto">
          <a:xfrm>
            <a:off x="457200" y="5257800"/>
            <a:ext cx="502920" cy="7498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5739336" name="TextBox 23"/>
          <p:cNvSpPr txBox="1"/>
          <p:nvPr/>
        </p:nvSpPr>
        <p:spPr bwMode="auto">
          <a:xfrm>
            <a:off x="502920" y="542239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FFFFFF"/>
                </a:solidFill>
              </a:rPr>
              <a:t>05</a:t>
            </a:r>
            <a:endParaRPr/>
          </a:p>
        </p:txBody>
      </p:sp>
      <p:sp>
        <p:nvSpPr>
          <p:cNvPr id="1013032579" name="TextBox 24"/>
          <p:cNvSpPr txBox="1"/>
          <p:nvPr/>
        </p:nvSpPr>
        <p:spPr bwMode="auto">
          <a:xfrm>
            <a:off x="1051560" y="54589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E2E8F0"/>
                </a:solidFill>
              </a:rPr>
              <a:t>BDD — Behavior-Driven Development</a:t>
            </a:r>
            <a:endParaRPr/>
          </a:p>
        </p:txBody>
      </p:sp>
      <p:sp>
        <p:nvSpPr>
          <p:cNvPr id="1435019914" name="Rectangle 25"/>
          <p:cNvSpPr/>
          <p:nvPr/>
        </p:nvSpPr>
        <p:spPr bwMode="auto">
          <a:xfrm>
            <a:off x="6400800" y="1417320"/>
            <a:ext cx="5577840" cy="74980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5237347" name="Rectangle 26"/>
          <p:cNvSpPr/>
          <p:nvPr/>
        </p:nvSpPr>
        <p:spPr bwMode="auto">
          <a:xfrm>
            <a:off x="6400800" y="1417320"/>
            <a:ext cx="502920" cy="7498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4328667" name="TextBox 27"/>
          <p:cNvSpPr txBox="1"/>
          <p:nvPr/>
        </p:nvSpPr>
        <p:spPr bwMode="auto">
          <a:xfrm>
            <a:off x="6446520" y="158191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FFFFFF"/>
                </a:solidFill>
              </a:rPr>
              <a:t>06</a:t>
            </a:r>
            <a:endParaRPr/>
          </a:p>
        </p:txBody>
      </p:sp>
      <p:sp>
        <p:nvSpPr>
          <p:cNvPr id="865628902" name="TextBox 28"/>
          <p:cNvSpPr txBox="1"/>
          <p:nvPr/>
        </p:nvSpPr>
        <p:spPr bwMode="auto">
          <a:xfrm>
            <a:off x="6995160" y="16184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E2E8F0"/>
                </a:solidFill>
              </a:rPr>
              <a:t>Microserviços Serverless</a:t>
            </a:r>
            <a:endParaRPr/>
          </a:p>
        </p:txBody>
      </p:sp>
      <p:sp>
        <p:nvSpPr>
          <p:cNvPr id="2060700853" name="Rectangle 29"/>
          <p:cNvSpPr/>
          <p:nvPr/>
        </p:nvSpPr>
        <p:spPr bwMode="auto">
          <a:xfrm>
            <a:off x="6400800" y="2377440"/>
            <a:ext cx="5577840" cy="74980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0193736" name="Rectangle 30"/>
          <p:cNvSpPr/>
          <p:nvPr/>
        </p:nvSpPr>
        <p:spPr bwMode="auto">
          <a:xfrm>
            <a:off x="6400800" y="2377440"/>
            <a:ext cx="502920" cy="7498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193240" name="TextBox 31"/>
          <p:cNvSpPr txBox="1"/>
          <p:nvPr/>
        </p:nvSpPr>
        <p:spPr bwMode="auto">
          <a:xfrm>
            <a:off x="6446520" y="254203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FFFFFF"/>
                </a:solidFill>
              </a:rPr>
              <a:t>07</a:t>
            </a:r>
            <a:endParaRPr/>
          </a:p>
        </p:txBody>
      </p:sp>
      <p:sp>
        <p:nvSpPr>
          <p:cNvPr id="669345982" name="TextBox 32"/>
          <p:cNvSpPr txBox="1"/>
          <p:nvPr/>
        </p:nvSpPr>
        <p:spPr bwMode="auto">
          <a:xfrm>
            <a:off x="6995160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E2E8F0"/>
                </a:solidFill>
              </a:rPr>
              <a:t>Segurança em Camadas</a:t>
            </a:r>
            <a:endParaRPr/>
          </a:p>
        </p:txBody>
      </p:sp>
      <p:sp>
        <p:nvSpPr>
          <p:cNvPr id="804561791" name="Rectangle 33"/>
          <p:cNvSpPr/>
          <p:nvPr/>
        </p:nvSpPr>
        <p:spPr bwMode="auto">
          <a:xfrm>
            <a:off x="6400800" y="3337560"/>
            <a:ext cx="5577840" cy="74980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7482103" name="Rectangle 34"/>
          <p:cNvSpPr/>
          <p:nvPr/>
        </p:nvSpPr>
        <p:spPr bwMode="auto">
          <a:xfrm>
            <a:off x="6400800" y="3337560"/>
            <a:ext cx="502920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3179355" name="TextBox 35"/>
          <p:cNvSpPr txBox="1"/>
          <p:nvPr/>
        </p:nvSpPr>
        <p:spPr bwMode="auto">
          <a:xfrm>
            <a:off x="6446520" y="35021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FFFFFF"/>
                </a:solidFill>
              </a:rPr>
              <a:t>08</a:t>
            </a:r>
            <a:endParaRPr/>
          </a:p>
        </p:txBody>
      </p:sp>
      <p:sp>
        <p:nvSpPr>
          <p:cNvPr id="1730200156" name="TextBox 36"/>
          <p:cNvSpPr txBox="1"/>
          <p:nvPr/>
        </p:nvSpPr>
        <p:spPr bwMode="auto">
          <a:xfrm>
            <a:off x="6995160" y="35387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E2E8F0"/>
                </a:solidFill>
              </a:rPr>
              <a:t>Resultados e Métricas</a:t>
            </a:r>
            <a:endParaRPr/>
          </a:p>
        </p:txBody>
      </p:sp>
      <p:sp>
        <p:nvSpPr>
          <p:cNvPr id="1039798480" name="Rectangle 37"/>
          <p:cNvSpPr/>
          <p:nvPr/>
        </p:nvSpPr>
        <p:spPr bwMode="auto">
          <a:xfrm>
            <a:off x="6400800" y="4297680"/>
            <a:ext cx="5577840" cy="749808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3917158" name="Rectangle 38"/>
          <p:cNvSpPr/>
          <p:nvPr/>
        </p:nvSpPr>
        <p:spPr bwMode="auto">
          <a:xfrm>
            <a:off x="6400800" y="4297680"/>
            <a:ext cx="502920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1350131" name="TextBox 39"/>
          <p:cNvSpPr txBox="1"/>
          <p:nvPr/>
        </p:nvSpPr>
        <p:spPr bwMode="auto">
          <a:xfrm>
            <a:off x="6446520" y="446227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FFFFFF"/>
                </a:solidFill>
              </a:rPr>
              <a:t>09</a:t>
            </a:r>
            <a:endParaRPr/>
          </a:p>
        </p:txBody>
      </p:sp>
      <p:sp>
        <p:nvSpPr>
          <p:cNvPr id="447171880" name="TextBox 40"/>
          <p:cNvSpPr txBox="1"/>
          <p:nvPr/>
        </p:nvSpPr>
        <p:spPr bwMode="auto">
          <a:xfrm>
            <a:off x="6995160" y="44988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E2E8F0"/>
                </a:solidFill>
              </a:rPr>
              <a:t>Conclusão</a:t>
            </a:r>
            <a:endParaRPr/>
          </a:p>
        </p:txBody>
      </p:sp>
      <p:sp>
        <p:nvSpPr>
          <p:cNvPr id="1917014161" name="TextBox 41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645728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0685245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6948126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01 · Visão Geral do Projeto</a:t>
            </a:r>
            <a:endParaRPr/>
          </a:p>
        </p:txBody>
      </p:sp>
      <p:sp>
        <p:nvSpPr>
          <p:cNvPr id="1835536562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O que é o S4 Assessoria e qual problema resolve</a:t>
            </a:r>
            <a:endParaRPr/>
          </a:p>
        </p:txBody>
      </p:sp>
      <p:sp>
        <p:nvSpPr>
          <p:cNvPr id="914019087" name="Rectangle 5"/>
          <p:cNvSpPr/>
          <p:nvPr/>
        </p:nvSpPr>
        <p:spPr bwMode="auto">
          <a:xfrm>
            <a:off x="365760" y="1371600"/>
            <a:ext cx="5394960" cy="23774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9559948" name="Rectangle 6"/>
          <p:cNvSpPr/>
          <p:nvPr/>
        </p:nvSpPr>
        <p:spPr bwMode="auto">
          <a:xfrm>
            <a:off x="365760" y="1371600"/>
            <a:ext cx="64008" cy="2377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8762660" name="TextBox 7"/>
          <p:cNvSpPr txBox="1"/>
          <p:nvPr/>
        </p:nvSpPr>
        <p:spPr bwMode="auto">
          <a:xfrm>
            <a:off x="548640" y="14630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EF4444"/>
                </a:solidFill>
              </a:rPr>
              <a:t>❌  Problema</a:t>
            </a:r>
            <a:endParaRPr/>
          </a:p>
        </p:txBody>
      </p:sp>
      <p:sp>
        <p:nvSpPr>
          <p:cNvPr id="465991278" name="TextBox 8"/>
          <p:cNvSpPr txBox="1"/>
          <p:nvPr/>
        </p:nvSpPr>
        <p:spPr bwMode="auto">
          <a:xfrm>
            <a:off x="566928" y="19202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 Consultores gerenciam projetos em planilhas dispersas</a:t>
            </a:r>
            <a:endParaRPr/>
          </a:p>
        </p:txBody>
      </p:sp>
      <p:sp>
        <p:nvSpPr>
          <p:cNvPr id="1351184281" name="TextBox 9"/>
          <p:cNvSpPr txBox="1"/>
          <p:nvPr/>
        </p:nvSpPr>
        <p:spPr bwMode="auto">
          <a:xfrm>
            <a:off x="566928" y="2331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 Sem visibilidade financeira do portfólio</a:t>
            </a:r>
            <a:endParaRPr/>
          </a:p>
        </p:txBody>
      </p:sp>
      <p:sp>
        <p:nvSpPr>
          <p:cNvPr id="430057858" name="TextBox 10"/>
          <p:cNvSpPr txBox="1"/>
          <p:nvPr/>
        </p:nvSpPr>
        <p:spPr bwMode="auto">
          <a:xfrm>
            <a:off x="566928" y="27432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 Prazos perdidos por falta de alertas</a:t>
            </a:r>
            <a:endParaRPr/>
          </a:p>
        </p:txBody>
      </p:sp>
      <p:sp>
        <p:nvSpPr>
          <p:cNvPr id="1039039941" name="TextBox 11"/>
          <p:cNvSpPr txBox="1"/>
          <p:nvPr/>
        </p:nvSpPr>
        <p:spPr bwMode="auto">
          <a:xfrm>
            <a:off x="566928" y="31546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 Precificação feita sem metodologia</a:t>
            </a:r>
            <a:endParaRPr/>
          </a:p>
        </p:txBody>
      </p:sp>
      <p:sp>
        <p:nvSpPr>
          <p:cNvPr id="1244661931" name="Rectangle 12"/>
          <p:cNvSpPr/>
          <p:nvPr/>
        </p:nvSpPr>
        <p:spPr bwMode="auto">
          <a:xfrm>
            <a:off x="6035039" y="1371600"/>
            <a:ext cx="5760720" cy="23774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9731598" name="Rectangle 13"/>
          <p:cNvSpPr/>
          <p:nvPr/>
        </p:nvSpPr>
        <p:spPr bwMode="auto">
          <a:xfrm>
            <a:off x="6035039" y="1371600"/>
            <a:ext cx="64008" cy="2377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3737895" name="TextBox 14"/>
          <p:cNvSpPr txBox="1"/>
          <p:nvPr/>
        </p:nvSpPr>
        <p:spPr bwMode="auto">
          <a:xfrm>
            <a:off x="6217920" y="14630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22C55E"/>
                </a:solidFill>
              </a:rPr>
              <a:t>✅  Solução</a:t>
            </a:r>
            <a:endParaRPr/>
          </a:p>
        </p:txBody>
      </p:sp>
      <p:sp>
        <p:nvSpPr>
          <p:cNvPr id="580872225" name="TextBox 15"/>
          <p:cNvSpPr txBox="1"/>
          <p:nvPr/>
        </p:nvSpPr>
        <p:spPr bwMode="auto">
          <a:xfrm>
            <a:off x="6236208" y="19202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 SPA com gestão completa de clientes e projetos</a:t>
            </a:r>
            <a:endParaRPr/>
          </a:p>
        </p:txBody>
      </p:sp>
      <p:sp>
        <p:nvSpPr>
          <p:cNvPr id="563753047" name="TextBox 16"/>
          <p:cNvSpPr txBox="1"/>
          <p:nvPr/>
        </p:nvSpPr>
        <p:spPr bwMode="auto">
          <a:xfrm>
            <a:off x="6236208" y="23317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 Dashboard com gráficos de receita e status</a:t>
            </a:r>
            <a:endParaRPr/>
          </a:p>
        </p:txBody>
      </p:sp>
      <p:sp>
        <p:nvSpPr>
          <p:cNvPr id="1261335399" name="TextBox 17"/>
          <p:cNvSpPr txBox="1"/>
          <p:nvPr/>
        </p:nvSpPr>
        <p:spPr bwMode="auto">
          <a:xfrm>
            <a:off x="6236208" y="27432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 Alertas automáticos de prazo por e-mail (cron)</a:t>
            </a:r>
            <a:endParaRPr/>
          </a:p>
        </p:txBody>
      </p:sp>
      <p:sp>
        <p:nvSpPr>
          <p:cNvPr id="1542532261" name="TextBox 18"/>
          <p:cNvSpPr txBox="1"/>
          <p:nvPr/>
        </p:nvSpPr>
        <p:spPr bwMode="auto">
          <a:xfrm>
            <a:off x="6236208" y="31546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 Calculadora de precificação com fatores de complexidade</a:t>
            </a:r>
            <a:endParaRPr/>
          </a:p>
        </p:txBody>
      </p:sp>
      <p:sp>
        <p:nvSpPr>
          <p:cNvPr id="604290208" name="Rectangle 19"/>
          <p:cNvSpPr/>
          <p:nvPr/>
        </p:nvSpPr>
        <p:spPr bwMode="auto">
          <a:xfrm>
            <a:off x="365760" y="3977639"/>
            <a:ext cx="3657600" cy="8686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0118339" name="Rectangle 20"/>
          <p:cNvSpPr/>
          <p:nvPr/>
        </p:nvSpPr>
        <p:spPr bwMode="auto">
          <a:xfrm>
            <a:off x="365760" y="3977639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9359456" name="TextBox 21"/>
          <p:cNvSpPr txBox="1"/>
          <p:nvPr/>
        </p:nvSpPr>
        <p:spPr bwMode="auto">
          <a:xfrm>
            <a:off x="50292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8A9BB0"/>
                </a:solidFill>
              </a:rPr>
              <a:t>Em Produção</a:t>
            </a:r>
            <a:endParaRPr/>
          </a:p>
        </p:txBody>
      </p:sp>
      <p:sp>
        <p:nvSpPr>
          <p:cNvPr id="266384075" name="TextBox 22"/>
          <p:cNvSpPr txBox="1"/>
          <p:nvPr/>
        </p:nvSpPr>
        <p:spPr bwMode="auto">
          <a:xfrm>
            <a:off x="502920" y="43708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FFFF"/>
                </a:solidFill>
              </a:rPr>
              <a:t>s4assessoria.com.br</a:t>
            </a:r>
            <a:endParaRPr/>
          </a:p>
        </p:txBody>
      </p:sp>
      <p:sp>
        <p:nvSpPr>
          <p:cNvPr id="417734670" name="Rectangle 23"/>
          <p:cNvSpPr/>
          <p:nvPr/>
        </p:nvSpPr>
        <p:spPr bwMode="auto">
          <a:xfrm>
            <a:off x="4297680" y="3977639"/>
            <a:ext cx="3657600" cy="8686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5610900" name="Rectangle 24"/>
          <p:cNvSpPr/>
          <p:nvPr/>
        </p:nvSpPr>
        <p:spPr bwMode="auto">
          <a:xfrm>
            <a:off x="4297680" y="3977639"/>
            <a:ext cx="3657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1338195" name="TextBox 25"/>
          <p:cNvSpPr txBox="1"/>
          <p:nvPr/>
        </p:nvSpPr>
        <p:spPr bwMode="auto">
          <a:xfrm>
            <a:off x="443484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8A9BB0"/>
                </a:solidFill>
              </a:rPr>
              <a:t>Multi-tenant</a:t>
            </a:r>
            <a:endParaRPr/>
          </a:p>
        </p:txBody>
      </p:sp>
      <p:sp>
        <p:nvSpPr>
          <p:cNvPr id="836767343" name="TextBox 26"/>
          <p:cNvSpPr txBox="1"/>
          <p:nvPr/>
        </p:nvSpPr>
        <p:spPr bwMode="auto">
          <a:xfrm>
            <a:off x="4434840" y="43708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FFFF"/>
                </a:solidFill>
              </a:rPr>
              <a:t>por user_id</a:t>
            </a:r>
            <a:endParaRPr/>
          </a:p>
        </p:txBody>
      </p:sp>
      <p:sp>
        <p:nvSpPr>
          <p:cNvPr id="955684267" name="Rectangle 27"/>
          <p:cNvSpPr/>
          <p:nvPr/>
        </p:nvSpPr>
        <p:spPr bwMode="auto">
          <a:xfrm>
            <a:off x="8229600" y="3977639"/>
            <a:ext cx="3657600" cy="8686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30857" name="Rectangle 28"/>
          <p:cNvSpPr/>
          <p:nvPr/>
        </p:nvSpPr>
        <p:spPr bwMode="auto">
          <a:xfrm>
            <a:off x="8229600" y="3977639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7402984" name="TextBox 29"/>
          <p:cNvSpPr txBox="1"/>
          <p:nvPr/>
        </p:nvSpPr>
        <p:spPr bwMode="auto">
          <a:xfrm>
            <a:off x="836676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8A9BB0"/>
                </a:solidFill>
              </a:rPr>
              <a:t>Custo Infra</a:t>
            </a:r>
            <a:endParaRPr/>
          </a:p>
        </p:txBody>
      </p:sp>
      <p:sp>
        <p:nvSpPr>
          <p:cNvPr id="1084477336" name="TextBox 30"/>
          <p:cNvSpPr txBox="1"/>
          <p:nvPr/>
        </p:nvSpPr>
        <p:spPr bwMode="auto">
          <a:xfrm>
            <a:off x="8366760" y="43708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FFFF"/>
                </a:solidFill>
              </a:rPr>
              <a:t>R$ 0 / mês</a:t>
            </a:r>
            <a:endParaRPr/>
          </a:p>
        </p:txBody>
      </p:sp>
      <p:sp>
        <p:nvSpPr>
          <p:cNvPr id="672690946" name="Rectangle 31"/>
          <p:cNvSpPr/>
          <p:nvPr/>
        </p:nvSpPr>
        <p:spPr bwMode="auto">
          <a:xfrm>
            <a:off x="11640312" y="3977639"/>
            <a:ext cx="182880" cy="8686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9115393" name="TextBox 32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020369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950163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3222158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01 · Stack Tecnológica</a:t>
            </a:r>
            <a:endParaRPr/>
          </a:p>
        </p:txBody>
      </p:sp>
      <p:sp>
        <p:nvSpPr>
          <p:cNvPr id="2137931133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Tecnologias escolhidas e justificativas</a:t>
            </a:r>
            <a:endParaRPr/>
          </a:p>
        </p:txBody>
      </p:sp>
      <p:sp>
        <p:nvSpPr>
          <p:cNvPr id="1025814545" name="Rectangle 5"/>
          <p:cNvSpPr/>
          <p:nvPr/>
        </p:nvSpPr>
        <p:spPr bwMode="auto">
          <a:xfrm>
            <a:off x="365760" y="1417320"/>
            <a:ext cx="5577840" cy="685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1319735" name="Rectangle 6"/>
          <p:cNvSpPr/>
          <p:nvPr/>
        </p:nvSpPr>
        <p:spPr bwMode="auto">
          <a:xfrm>
            <a:off x="365760" y="1417320"/>
            <a:ext cx="73152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9891924" name="TextBox 7"/>
          <p:cNvSpPr txBox="1"/>
          <p:nvPr/>
        </p:nvSpPr>
        <p:spPr bwMode="auto">
          <a:xfrm>
            <a:off x="548640" y="14904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3B82F6"/>
                </a:solidFill>
              </a:rPr>
              <a:t>Frontend</a:t>
            </a:r>
            <a:endParaRPr/>
          </a:p>
        </p:txBody>
      </p:sp>
      <p:sp>
        <p:nvSpPr>
          <p:cNvPr id="171110365" name="TextBox 8"/>
          <p:cNvSpPr txBox="1"/>
          <p:nvPr/>
        </p:nvSpPr>
        <p:spPr bwMode="auto">
          <a:xfrm>
            <a:off x="548640" y="17647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React 19 + TypeScript + Vite 8</a:t>
            </a:r>
            <a:endParaRPr/>
          </a:p>
        </p:txBody>
      </p:sp>
      <p:sp>
        <p:nvSpPr>
          <p:cNvPr id="432923864" name="Rectangle 9"/>
          <p:cNvSpPr/>
          <p:nvPr/>
        </p:nvSpPr>
        <p:spPr bwMode="auto">
          <a:xfrm>
            <a:off x="365760" y="2240280"/>
            <a:ext cx="5577840" cy="685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0339312" name="Rectangle 10"/>
          <p:cNvSpPr/>
          <p:nvPr/>
        </p:nvSpPr>
        <p:spPr bwMode="auto">
          <a:xfrm>
            <a:off x="365760" y="2240280"/>
            <a:ext cx="73152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0998719" name="TextBox 11"/>
          <p:cNvSpPr txBox="1"/>
          <p:nvPr/>
        </p:nvSpPr>
        <p:spPr bwMode="auto">
          <a:xfrm>
            <a:off x="548640" y="23134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06B6D4"/>
                </a:solidFill>
              </a:rPr>
              <a:t>Estilização</a:t>
            </a:r>
            <a:endParaRPr/>
          </a:p>
        </p:txBody>
      </p:sp>
      <p:sp>
        <p:nvSpPr>
          <p:cNvPr id="1655756268" name="TextBox 12"/>
          <p:cNvSpPr txBox="1"/>
          <p:nvPr/>
        </p:nvSpPr>
        <p:spPr bwMode="auto">
          <a:xfrm>
            <a:off x="548640" y="25877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Tailwind CSS 4</a:t>
            </a:r>
            <a:endParaRPr/>
          </a:p>
        </p:txBody>
      </p:sp>
      <p:sp>
        <p:nvSpPr>
          <p:cNvPr id="1657824591" name="Rectangle 13"/>
          <p:cNvSpPr/>
          <p:nvPr/>
        </p:nvSpPr>
        <p:spPr bwMode="auto">
          <a:xfrm>
            <a:off x="365760" y="3063240"/>
            <a:ext cx="5577840" cy="685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9942992" name="Rectangle 14"/>
          <p:cNvSpPr/>
          <p:nvPr/>
        </p:nvSpPr>
        <p:spPr bwMode="auto">
          <a:xfrm>
            <a:off x="365760" y="3063240"/>
            <a:ext cx="73152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4408381" name="TextBox 15"/>
          <p:cNvSpPr txBox="1"/>
          <p:nvPr/>
        </p:nvSpPr>
        <p:spPr bwMode="auto">
          <a:xfrm>
            <a:off x="548640" y="3136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3B82F6"/>
                </a:solidFill>
              </a:rPr>
              <a:t>Roteamento</a:t>
            </a:r>
            <a:endParaRPr/>
          </a:p>
        </p:txBody>
      </p:sp>
      <p:sp>
        <p:nvSpPr>
          <p:cNvPr id="1465620374" name="TextBox 16"/>
          <p:cNvSpPr txBox="1"/>
          <p:nvPr/>
        </p:nvSpPr>
        <p:spPr bwMode="auto">
          <a:xfrm>
            <a:off x="548640" y="34107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React Router DOM 7 (lazy loading)</a:t>
            </a:r>
            <a:endParaRPr/>
          </a:p>
        </p:txBody>
      </p:sp>
      <p:sp>
        <p:nvSpPr>
          <p:cNvPr id="2041988676" name="Rectangle 17"/>
          <p:cNvSpPr/>
          <p:nvPr/>
        </p:nvSpPr>
        <p:spPr bwMode="auto">
          <a:xfrm>
            <a:off x="365760" y="3886200"/>
            <a:ext cx="5577840" cy="685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1217425" name="Rectangle 18"/>
          <p:cNvSpPr/>
          <p:nvPr/>
        </p:nvSpPr>
        <p:spPr bwMode="auto">
          <a:xfrm>
            <a:off x="365760" y="3886200"/>
            <a:ext cx="73152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9023972" name="TextBox 19"/>
          <p:cNvSpPr txBox="1"/>
          <p:nvPr/>
        </p:nvSpPr>
        <p:spPr bwMode="auto">
          <a:xfrm>
            <a:off x="548640" y="39593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8B5CF6"/>
                </a:solidFill>
              </a:rPr>
              <a:t>Gráficos</a:t>
            </a:r>
            <a:endParaRPr/>
          </a:p>
        </p:txBody>
      </p:sp>
      <p:sp>
        <p:nvSpPr>
          <p:cNvPr id="1494853176" name="TextBox 20"/>
          <p:cNvSpPr txBox="1"/>
          <p:nvPr/>
        </p:nvSpPr>
        <p:spPr bwMode="auto">
          <a:xfrm>
            <a:off x="548640" y="42336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Recharts 3</a:t>
            </a:r>
            <a:endParaRPr/>
          </a:p>
        </p:txBody>
      </p:sp>
      <p:sp>
        <p:nvSpPr>
          <p:cNvPr id="485023024" name="Rectangle 21"/>
          <p:cNvSpPr/>
          <p:nvPr/>
        </p:nvSpPr>
        <p:spPr bwMode="auto">
          <a:xfrm>
            <a:off x="365760" y="4709160"/>
            <a:ext cx="5577840" cy="685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5465723" name="Rectangle 22"/>
          <p:cNvSpPr/>
          <p:nvPr/>
        </p:nvSpPr>
        <p:spPr bwMode="auto">
          <a:xfrm>
            <a:off x="365760" y="4709160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3864136" name="TextBox 23"/>
          <p:cNvSpPr txBox="1"/>
          <p:nvPr/>
        </p:nvSpPr>
        <p:spPr bwMode="auto">
          <a:xfrm>
            <a:off x="548640" y="47823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F59E0B"/>
                </a:solidFill>
              </a:rPr>
              <a:t>Validação</a:t>
            </a:r>
            <a:endParaRPr/>
          </a:p>
        </p:txBody>
      </p:sp>
      <p:sp>
        <p:nvSpPr>
          <p:cNvPr id="1632540080" name="TextBox 24"/>
          <p:cNvSpPr txBox="1"/>
          <p:nvPr/>
        </p:nvSpPr>
        <p:spPr bwMode="auto">
          <a:xfrm>
            <a:off x="548640" y="50566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Zod 4 — schemas tipados</a:t>
            </a:r>
            <a:endParaRPr/>
          </a:p>
        </p:txBody>
      </p:sp>
      <p:sp>
        <p:nvSpPr>
          <p:cNvPr id="142470505" name="Rectangle 25"/>
          <p:cNvSpPr/>
          <p:nvPr/>
        </p:nvSpPr>
        <p:spPr bwMode="auto">
          <a:xfrm>
            <a:off x="365760" y="5532120"/>
            <a:ext cx="5577840" cy="685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7846588" name="Rectangle 26"/>
          <p:cNvSpPr/>
          <p:nvPr/>
        </p:nvSpPr>
        <p:spPr bwMode="auto">
          <a:xfrm>
            <a:off x="365760" y="5532120"/>
            <a:ext cx="73152" cy="685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3355845" name="TextBox 27"/>
          <p:cNvSpPr txBox="1"/>
          <p:nvPr/>
        </p:nvSpPr>
        <p:spPr bwMode="auto">
          <a:xfrm>
            <a:off x="548640" y="5605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22C55E"/>
                </a:solidFill>
              </a:rPr>
              <a:t>Backend</a:t>
            </a:r>
            <a:endParaRPr/>
          </a:p>
        </p:txBody>
      </p:sp>
      <p:sp>
        <p:nvSpPr>
          <p:cNvPr id="730748914" name="TextBox 28"/>
          <p:cNvSpPr txBox="1"/>
          <p:nvPr/>
        </p:nvSpPr>
        <p:spPr bwMode="auto">
          <a:xfrm>
            <a:off x="548640" y="58795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Vercel Functions (Node.js serverless)</a:t>
            </a:r>
            <a:endParaRPr/>
          </a:p>
        </p:txBody>
      </p:sp>
      <p:sp>
        <p:nvSpPr>
          <p:cNvPr id="1890666369" name="Rectangle 29"/>
          <p:cNvSpPr/>
          <p:nvPr/>
        </p:nvSpPr>
        <p:spPr bwMode="auto">
          <a:xfrm>
            <a:off x="6309360" y="1417320"/>
            <a:ext cx="5577840" cy="685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5298192" name="Rectangle 30"/>
          <p:cNvSpPr/>
          <p:nvPr/>
        </p:nvSpPr>
        <p:spPr bwMode="auto">
          <a:xfrm>
            <a:off x="6309360" y="1417320"/>
            <a:ext cx="73152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2556456" name="TextBox 31"/>
          <p:cNvSpPr txBox="1"/>
          <p:nvPr/>
        </p:nvSpPr>
        <p:spPr bwMode="auto">
          <a:xfrm>
            <a:off x="6492240" y="14904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EF4444"/>
                </a:solidFill>
              </a:rPr>
              <a:t>Banco</a:t>
            </a:r>
            <a:endParaRPr/>
          </a:p>
        </p:txBody>
      </p:sp>
      <p:sp>
        <p:nvSpPr>
          <p:cNvPr id="1890732255" name="TextBox 32"/>
          <p:cNvSpPr txBox="1"/>
          <p:nvPr/>
        </p:nvSpPr>
        <p:spPr bwMode="auto">
          <a:xfrm>
            <a:off x="6492240" y="17647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Oracle Autonomous DB + ORDS AutoREST</a:t>
            </a:r>
            <a:endParaRPr/>
          </a:p>
        </p:txBody>
      </p:sp>
      <p:sp>
        <p:nvSpPr>
          <p:cNvPr id="1818068298" name="Rectangle 33"/>
          <p:cNvSpPr/>
          <p:nvPr/>
        </p:nvSpPr>
        <p:spPr bwMode="auto">
          <a:xfrm>
            <a:off x="6309360" y="2240280"/>
            <a:ext cx="5577840" cy="685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3065864" name="Rectangle 34"/>
          <p:cNvSpPr/>
          <p:nvPr/>
        </p:nvSpPr>
        <p:spPr bwMode="auto">
          <a:xfrm>
            <a:off x="6309360" y="2240280"/>
            <a:ext cx="73152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3003485" name="TextBox 35"/>
          <p:cNvSpPr txBox="1"/>
          <p:nvPr/>
        </p:nvSpPr>
        <p:spPr bwMode="auto">
          <a:xfrm>
            <a:off x="6492240" y="23134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EF4444"/>
                </a:solidFill>
              </a:rPr>
              <a:t>Senha</a:t>
            </a:r>
            <a:endParaRPr/>
          </a:p>
        </p:txBody>
      </p:sp>
      <p:sp>
        <p:nvSpPr>
          <p:cNvPr id="1551696092" name="TextBox 36"/>
          <p:cNvSpPr txBox="1"/>
          <p:nvPr/>
        </p:nvSpPr>
        <p:spPr bwMode="auto">
          <a:xfrm>
            <a:off x="6492240" y="25877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Argon2id + Pepper (server-side)</a:t>
            </a:r>
            <a:endParaRPr/>
          </a:p>
        </p:txBody>
      </p:sp>
      <p:sp>
        <p:nvSpPr>
          <p:cNvPr id="910618991" name="Rectangle 37"/>
          <p:cNvSpPr/>
          <p:nvPr/>
        </p:nvSpPr>
        <p:spPr bwMode="auto">
          <a:xfrm>
            <a:off x="6309360" y="3063240"/>
            <a:ext cx="5577840" cy="685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1978235" name="Rectangle 38"/>
          <p:cNvSpPr/>
          <p:nvPr/>
        </p:nvSpPr>
        <p:spPr bwMode="auto">
          <a:xfrm>
            <a:off x="6309360" y="3063240"/>
            <a:ext cx="73152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311240" name="TextBox 39"/>
          <p:cNvSpPr txBox="1"/>
          <p:nvPr/>
        </p:nvSpPr>
        <p:spPr bwMode="auto">
          <a:xfrm>
            <a:off x="6492240" y="3136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06B6D4"/>
                </a:solidFill>
              </a:rPr>
              <a:t>Email</a:t>
            </a:r>
            <a:endParaRPr/>
          </a:p>
        </p:txBody>
      </p:sp>
      <p:sp>
        <p:nvSpPr>
          <p:cNvPr id="113845172" name="TextBox 40"/>
          <p:cNvSpPr txBox="1"/>
          <p:nvPr/>
        </p:nvSpPr>
        <p:spPr bwMode="auto">
          <a:xfrm>
            <a:off x="6492240" y="34107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Resend API</a:t>
            </a:r>
            <a:endParaRPr/>
          </a:p>
        </p:txBody>
      </p:sp>
      <p:sp>
        <p:nvSpPr>
          <p:cNvPr id="1703356450" name="Rectangle 41"/>
          <p:cNvSpPr/>
          <p:nvPr/>
        </p:nvSpPr>
        <p:spPr bwMode="auto">
          <a:xfrm>
            <a:off x="6309360" y="3886200"/>
            <a:ext cx="5577840" cy="685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9233575" name="Rectangle 42"/>
          <p:cNvSpPr/>
          <p:nvPr/>
        </p:nvSpPr>
        <p:spPr bwMode="auto">
          <a:xfrm>
            <a:off x="6309360" y="3886200"/>
            <a:ext cx="73152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2735188" name="TextBox 43"/>
          <p:cNvSpPr txBox="1"/>
          <p:nvPr/>
        </p:nvSpPr>
        <p:spPr bwMode="auto">
          <a:xfrm>
            <a:off x="6492240" y="39593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8B5CF6"/>
                </a:solidFill>
              </a:rPr>
              <a:t>Monitoring</a:t>
            </a:r>
            <a:endParaRPr/>
          </a:p>
        </p:txBody>
      </p:sp>
      <p:sp>
        <p:nvSpPr>
          <p:cNvPr id="811096010" name="TextBox 44"/>
          <p:cNvSpPr txBox="1"/>
          <p:nvPr/>
        </p:nvSpPr>
        <p:spPr bwMode="auto">
          <a:xfrm>
            <a:off x="6492240" y="42336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Sentry (React + Vite plugin)</a:t>
            </a:r>
            <a:endParaRPr/>
          </a:p>
        </p:txBody>
      </p:sp>
      <p:sp>
        <p:nvSpPr>
          <p:cNvPr id="990239728" name="Rectangle 45"/>
          <p:cNvSpPr/>
          <p:nvPr/>
        </p:nvSpPr>
        <p:spPr bwMode="auto">
          <a:xfrm>
            <a:off x="6309360" y="4709160"/>
            <a:ext cx="5577840" cy="685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4355672" name="Rectangle 46"/>
          <p:cNvSpPr/>
          <p:nvPr/>
        </p:nvSpPr>
        <p:spPr bwMode="auto">
          <a:xfrm>
            <a:off x="6309360" y="4709160"/>
            <a:ext cx="73152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5127760" name="TextBox 47"/>
          <p:cNvSpPr txBox="1"/>
          <p:nvPr/>
        </p:nvSpPr>
        <p:spPr bwMode="auto">
          <a:xfrm>
            <a:off x="6492240" y="47823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3B82F6"/>
                </a:solidFill>
              </a:rPr>
              <a:t>Deploy</a:t>
            </a:r>
            <a:endParaRPr/>
          </a:p>
        </p:txBody>
      </p:sp>
      <p:sp>
        <p:nvSpPr>
          <p:cNvPr id="1273270345" name="TextBox 48"/>
          <p:cNvSpPr txBox="1"/>
          <p:nvPr/>
        </p:nvSpPr>
        <p:spPr bwMode="auto">
          <a:xfrm>
            <a:off x="6492240" y="50566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Vercel (CDN global)</a:t>
            </a:r>
            <a:endParaRPr/>
          </a:p>
        </p:txBody>
      </p:sp>
      <p:sp>
        <p:nvSpPr>
          <p:cNvPr id="680769324" name="Rectangle 49"/>
          <p:cNvSpPr/>
          <p:nvPr/>
        </p:nvSpPr>
        <p:spPr bwMode="auto">
          <a:xfrm>
            <a:off x="6309360" y="5532120"/>
            <a:ext cx="5577840" cy="6858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8170809" name="Rectangle 50"/>
          <p:cNvSpPr/>
          <p:nvPr/>
        </p:nvSpPr>
        <p:spPr bwMode="auto">
          <a:xfrm>
            <a:off x="6309360" y="5532120"/>
            <a:ext cx="73152" cy="685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7555018" name="TextBox 51"/>
          <p:cNvSpPr txBox="1"/>
          <p:nvPr/>
        </p:nvSpPr>
        <p:spPr bwMode="auto">
          <a:xfrm>
            <a:off x="6492240" y="5605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22C55E"/>
                </a:solidFill>
              </a:rPr>
              <a:t>Testes UI</a:t>
            </a:r>
            <a:endParaRPr/>
          </a:p>
        </p:txBody>
      </p:sp>
      <p:sp>
        <p:nvSpPr>
          <p:cNvPr id="984240430" name="TextBox 52"/>
          <p:cNvSpPr txBox="1"/>
          <p:nvPr/>
        </p:nvSpPr>
        <p:spPr bwMode="auto">
          <a:xfrm>
            <a:off x="6492240" y="58795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Vitest + Testing Library + Playwright</a:t>
            </a:r>
            <a:endParaRPr/>
          </a:p>
        </p:txBody>
      </p:sp>
      <p:sp>
        <p:nvSpPr>
          <p:cNvPr id="712499639" name="TextBox 53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39051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9375017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3790795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02 · Arquitetura do Sistema</a:t>
            </a:r>
            <a:endParaRPr/>
          </a:p>
        </p:txBody>
      </p:sp>
      <p:sp>
        <p:nvSpPr>
          <p:cNvPr id="324050166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Visão geral das camadas e fluxo de dados</a:t>
            </a:r>
            <a:endParaRPr/>
          </a:p>
        </p:txBody>
      </p:sp>
      <p:sp>
        <p:nvSpPr>
          <p:cNvPr id="2114233971" name="Rectangle 5"/>
          <p:cNvSpPr/>
          <p:nvPr/>
        </p:nvSpPr>
        <p:spPr bwMode="auto">
          <a:xfrm>
            <a:off x="914400" y="1325880"/>
            <a:ext cx="10058400" cy="5943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208175" name="Rectangle 6"/>
          <p:cNvSpPr/>
          <p:nvPr/>
        </p:nvSpPr>
        <p:spPr bwMode="auto">
          <a:xfrm>
            <a:off x="914400" y="1325880"/>
            <a:ext cx="9144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5593008" name="TextBox 7"/>
          <p:cNvSpPr txBox="1"/>
          <p:nvPr/>
        </p:nvSpPr>
        <p:spPr bwMode="auto">
          <a:xfrm>
            <a:off x="1097280" y="1371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3B82F6"/>
                </a:solidFill>
              </a:rPr>
              <a:t>BROWSER</a:t>
            </a:r>
            <a:endParaRPr/>
          </a:p>
        </p:txBody>
      </p:sp>
      <p:sp>
        <p:nvSpPr>
          <p:cNvPr id="1364401796" name="TextBox 8"/>
          <p:cNvSpPr txBox="1"/>
          <p:nvPr/>
        </p:nvSpPr>
        <p:spPr bwMode="auto">
          <a:xfrm>
            <a:off x="5120640" y="13716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React SPA — React.lazy, Zod, Sentry</a:t>
            </a:r>
            <a:endParaRPr/>
          </a:p>
        </p:txBody>
      </p:sp>
      <p:sp>
        <p:nvSpPr>
          <p:cNvPr id="489793979" name="TextBox 9"/>
          <p:cNvSpPr txBox="1"/>
          <p:nvPr/>
        </p:nvSpPr>
        <p:spPr bwMode="auto">
          <a:xfrm>
            <a:off x="6309360" y="1920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 i="0">
                <a:solidFill>
                  <a:srgbClr val="8A9BB0"/>
                </a:solidFill>
              </a:rPr>
              <a:t>↓</a:t>
            </a:r>
            <a:endParaRPr/>
          </a:p>
        </p:txBody>
      </p:sp>
      <p:sp>
        <p:nvSpPr>
          <p:cNvPr id="1983443098" name="Rectangle 10"/>
          <p:cNvSpPr/>
          <p:nvPr/>
        </p:nvSpPr>
        <p:spPr bwMode="auto">
          <a:xfrm>
            <a:off x="914400" y="2057400"/>
            <a:ext cx="10058400" cy="5943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5784825" name="Rectangle 11"/>
          <p:cNvSpPr/>
          <p:nvPr/>
        </p:nvSpPr>
        <p:spPr bwMode="auto">
          <a:xfrm>
            <a:off x="914400" y="2057400"/>
            <a:ext cx="91440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7156726" name="TextBox 12"/>
          <p:cNvSpPr txBox="1"/>
          <p:nvPr/>
        </p:nvSpPr>
        <p:spPr bwMode="auto">
          <a:xfrm>
            <a:off x="1097280" y="210312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06B6D4"/>
                </a:solidFill>
              </a:rPr>
              <a:t>VERCEL EDGE (CDN)</a:t>
            </a:r>
            <a:endParaRPr/>
          </a:p>
        </p:txBody>
      </p:sp>
      <p:sp>
        <p:nvSpPr>
          <p:cNvPr id="16925820" name="TextBox 13"/>
          <p:cNvSpPr txBox="1"/>
          <p:nvPr/>
        </p:nvSpPr>
        <p:spPr bwMode="auto">
          <a:xfrm>
            <a:off x="5120640" y="21031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Assets estáticos — chunks por rota</a:t>
            </a:r>
            <a:endParaRPr/>
          </a:p>
        </p:txBody>
      </p:sp>
      <p:sp>
        <p:nvSpPr>
          <p:cNvPr id="702179378" name="TextBox 14"/>
          <p:cNvSpPr txBox="1"/>
          <p:nvPr/>
        </p:nvSpPr>
        <p:spPr bwMode="auto">
          <a:xfrm>
            <a:off x="6309360" y="2651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 i="0">
                <a:solidFill>
                  <a:srgbClr val="8A9BB0"/>
                </a:solidFill>
              </a:rPr>
              <a:t>↓</a:t>
            </a:r>
            <a:endParaRPr/>
          </a:p>
        </p:txBody>
      </p:sp>
      <p:sp>
        <p:nvSpPr>
          <p:cNvPr id="1792204094" name="Rectangle 15"/>
          <p:cNvSpPr/>
          <p:nvPr/>
        </p:nvSpPr>
        <p:spPr bwMode="auto">
          <a:xfrm>
            <a:off x="914400" y="2788920"/>
            <a:ext cx="10058400" cy="5943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1418486" name="Rectangle 16"/>
          <p:cNvSpPr/>
          <p:nvPr/>
        </p:nvSpPr>
        <p:spPr bwMode="auto">
          <a:xfrm>
            <a:off x="914400" y="2788920"/>
            <a:ext cx="9144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8872107" name="TextBox 17"/>
          <p:cNvSpPr txBox="1"/>
          <p:nvPr/>
        </p:nvSpPr>
        <p:spPr bwMode="auto">
          <a:xfrm>
            <a:off x="1097280" y="2834639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2C55E"/>
                </a:solidFill>
              </a:rPr>
              <a:t>VERCEL FUNCTIONS</a:t>
            </a:r>
            <a:endParaRPr/>
          </a:p>
        </p:txBody>
      </p:sp>
      <p:sp>
        <p:nvSpPr>
          <p:cNvPr id="136457232" name="TextBox 18"/>
          <p:cNvSpPr txBox="1"/>
          <p:nvPr/>
        </p:nvSpPr>
        <p:spPr bwMode="auto">
          <a:xfrm>
            <a:off x="5120640" y="283463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Auth, Proxy ORDS, Notifications cron</a:t>
            </a:r>
            <a:endParaRPr/>
          </a:p>
        </p:txBody>
      </p:sp>
      <p:sp>
        <p:nvSpPr>
          <p:cNvPr id="1992208178" name="TextBox 19"/>
          <p:cNvSpPr txBox="1"/>
          <p:nvPr/>
        </p:nvSpPr>
        <p:spPr bwMode="auto">
          <a:xfrm>
            <a:off x="6309360" y="33832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 i="0">
                <a:solidFill>
                  <a:srgbClr val="8A9BB0"/>
                </a:solidFill>
              </a:rPr>
              <a:t>↓</a:t>
            </a:r>
            <a:endParaRPr/>
          </a:p>
        </p:txBody>
      </p:sp>
      <p:sp>
        <p:nvSpPr>
          <p:cNvPr id="1962402633" name="Rectangle 20"/>
          <p:cNvSpPr/>
          <p:nvPr/>
        </p:nvSpPr>
        <p:spPr bwMode="auto">
          <a:xfrm>
            <a:off x="914400" y="3520440"/>
            <a:ext cx="10058400" cy="5943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4857514" name="Rectangle 21"/>
          <p:cNvSpPr/>
          <p:nvPr/>
        </p:nvSpPr>
        <p:spPr bwMode="auto">
          <a:xfrm>
            <a:off x="914400" y="3520440"/>
            <a:ext cx="9144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52249" name="TextBox 22"/>
          <p:cNvSpPr txBox="1"/>
          <p:nvPr/>
        </p:nvSpPr>
        <p:spPr bwMode="auto">
          <a:xfrm>
            <a:off x="1097280" y="35661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59E0B"/>
                </a:solidFill>
              </a:rPr>
              <a:t>ORACLE ORDS (AutoREST)</a:t>
            </a:r>
            <a:endParaRPr/>
          </a:p>
        </p:txBody>
      </p:sp>
      <p:sp>
        <p:nvSpPr>
          <p:cNvPr id="931949946" name="TextBox 23"/>
          <p:cNvSpPr txBox="1"/>
          <p:nvPr/>
        </p:nvSpPr>
        <p:spPr bwMode="auto">
          <a:xfrm>
            <a:off x="5120640" y="356616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CRUD REST automático via HTTP</a:t>
            </a:r>
            <a:endParaRPr/>
          </a:p>
        </p:txBody>
      </p:sp>
      <p:sp>
        <p:nvSpPr>
          <p:cNvPr id="1466162632" name="TextBox 24"/>
          <p:cNvSpPr txBox="1"/>
          <p:nvPr/>
        </p:nvSpPr>
        <p:spPr bwMode="auto">
          <a:xfrm>
            <a:off x="6309360" y="4114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 i="0">
                <a:solidFill>
                  <a:srgbClr val="8A9BB0"/>
                </a:solidFill>
              </a:rPr>
              <a:t>↓</a:t>
            </a:r>
            <a:endParaRPr/>
          </a:p>
        </p:txBody>
      </p:sp>
      <p:sp>
        <p:nvSpPr>
          <p:cNvPr id="1416066293" name="Rectangle 25"/>
          <p:cNvSpPr/>
          <p:nvPr/>
        </p:nvSpPr>
        <p:spPr bwMode="auto">
          <a:xfrm>
            <a:off x="914400" y="4251960"/>
            <a:ext cx="10058400" cy="5943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82225331" name="Rectangle 26"/>
          <p:cNvSpPr/>
          <p:nvPr/>
        </p:nvSpPr>
        <p:spPr bwMode="auto">
          <a:xfrm>
            <a:off x="914400" y="4251960"/>
            <a:ext cx="9144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1504522" name="TextBox 27"/>
          <p:cNvSpPr txBox="1"/>
          <p:nvPr/>
        </p:nvSpPr>
        <p:spPr bwMode="auto">
          <a:xfrm>
            <a:off x="1097280" y="429768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EF4444"/>
                </a:solidFill>
              </a:rPr>
              <a:t>ORACLE ATP (Free Tier)</a:t>
            </a:r>
            <a:endParaRPr/>
          </a:p>
        </p:txBody>
      </p:sp>
      <p:sp>
        <p:nvSpPr>
          <p:cNvPr id="1299541768" name="TextBox 28"/>
          <p:cNvSpPr txBox="1"/>
          <p:nvPr/>
        </p:nvSpPr>
        <p:spPr bwMode="auto">
          <a:xfrm>
            <a:off x="5120640" y="42976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Banco relacional — São Paulo</a:t>
            </a:r>
            <a:endParaRPr/>
          </a:p>
        </p:txBody>
      </p:sp>
      <p:sp>
        <p:nvSpPr>
          <p:cNvPr id="1106267092" name="TextBox 29"/>
          <p:cNvSpPr txBox="1"/>
          <p:nvPr/>
        </p:nvSpPr>
        <p:spPr bwMode="auto">
          <a:xfrm>
            <a:off x="457200" y="5029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FFFFFF"/>
                </a:solidFill>
              </a:rPr>
              <a:t>Princípios Arquiteturais</a:t>
            </a:r>
            <a:endParaRPr/>
          </a:p>
        </p:txBody>
      </p:sp>
      <p:sp>
        <p:nvSpPr>
          <p:cNvPr id="1216390397" name="Rectangle 30"/>
          <p:cNvSpPr/>
          <p:nvPr/>
        </p:nvSpPr>
        <p:spPr bwMode="auto">
          <a:xfrm>
            <a:off x="457200" y="5440680"/>
            <a:ext cx="219456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0377961" name="TextBox 31"/>
          <p:cNvSpPr txBox="1"/>
          <p:nvPr/>
        </p:nvSpPr>
        <p:spPr bwMode="auto">
          <a:xfrm>
            <a:off x="502920" y="5458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Separação de Responsabilidades</a:t>
            </a:r>
            <a:endParaRPr/>
          </a:p>
        </p:txBody>
      </p:sp>
      <p:sp>
        <p:nvSpPr>
          <p:cNvPr id="2138464364" name="Rectangle 32"/>
          <p:cNvSpPr/>
          <p:nvPr/>
        </p:nvSpPr>
        <p:spPr bwMode="auto">
          <a:xfrm>
            <a:off x="2743200" y="5440680"/>
            <a:ext cx="219456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4650601" name="TextBox 33"/>
          <p:cNvSpPr txBox="1"/>
          <p:nvPr/>
        </p:nvSpPr>
        <p:spPr bwMode="auto">
          <a:xfrm>
            <a:off x="2788920" y="5458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Stateless Serverless</a:t>
            </a:r>
            <a:endParaRPr/>
          </a:p>
        </p:txBody>
      </p:sp>
      <p:sp>
        <p:nvSpPr>
          <p:cNvPr id="693111249" name="Rectangle 34"/>
          <p:cNvSpPr/>
          <p:nvPr/>
        </p:nvSpPr>
        <p:spPr bwMode="auto">
          <a:xfrm>
            <a:off x="5029200" y="5440680"/>
            <a:ext cx="219456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1098420" name="TextBox 35"/>
          <p:cNvSpPr txBox="1"/>
          <p:nvPr/>
        </p:nvSpPr>
        <p:spPr bwMode="auto">
          <a:xfrm>
            <a:off x="5074920" y="5458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Zero CORS (proxy Vercel)</a:t>
            </a:r>
            <a:endParaRPr/>
          </a:p>
        </p:txBody>
      </p:sp>
      <p:sp>
        <p:nvSpPr>
          <p:cNvPr id="1157342900" name="Rectangle 36"/>
          <p:cNvSpPr/>
          <p:nvPr/>
        </p:nvSpPr>
        <p:spPr bwMode="auto">
          <a:xfrm>
            <a:off x="7315200" y="5440680"/>
            <a:ext cx="219456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3126097" name="TextBox 37"/>
          <p:cNvSpPr txBox="1"/>
          <p:nvPr/>
        </p:nvSpPr>
        <p:spPr bwMode="auto">
          <a:xfrm>
            <a:off x="7360920" y="5458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HttpOnly Cookie Auth</a:t>
            </a:r>
            <a:endParaRPr/>
          </a:p>
        </p:txBody>
      </p:sp>
      <p:sp>
        <p:nvSpPr>
          <p:cNvPr id="2033821838" name="Rectangle 38"/>
          <p:cNvSpPr/>
          <p:nvPr/>
        </p:nvSpPr>
        <p:spPr bwMode="auto">
          <a:xfrm>
            <a:off x="9601200" y="5440680"/>
            <a:ext cx="219456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1641206" name="TextBox 39"/>
          <p:cNvSpPr txBox="1"/>
          <p:nvPr/>
        </p:nvSpPr>
        <p:spPr bwMode="auto">
          <a:xfrm>
            <a:off x="9646920" y="5458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Code Splitting (lazy)</a:t>
            </a:r>
            <a:endParaRPr/>
          </a:p>
        </p:txBody>
      </p:sp>
      <p:sp>
        <p:nvSpPr>
          <p:cNvPr id="770330698" name="TextBox 40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140735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6021195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4780289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03 · Clean Code</a:t>
            </a:r>
            <a:endParaRPr/>
          </a:p>
        </p:txBody>
      </p:sp>
      <p:sp>
        <p:nvSpPr>
          <p:cNvPr id="274309502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Princípios aplicados na base de código</a:t>
            </a:r>
            <a:endParaRPr/>
          </a:p>
        </p:txBody>
      </p:sp>
      <p:sp>
        <p:nvSpPr>
          <p:cNvPr id="454315298" name="Rectangle 5"/>
          <p:cNvSpPr/>
          <p:nvPr/>
        </p:nvSpPr>
        <p:spPr bwMode="auto">
          <a:xfrm>
            <a:off x="365760" y="1417320"/>
            <a:ext cx="5669280" cy="22860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8626940" name="Rectangle 6"/>
          <p:cNvSpPr/>
          <p:nvPr/>
        </p:nvSpPr>
        <p:spPr bwMode="auto">
          <a:xfrm>
            <a:off x="365760" y="1417320"/>
            <a:ext cx="54864" cy="2286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939593" name="TextBox 7"/>
          <p:cNvSpPr txBox="1"/>
          <p:nvPr/>
        </p:nvSpPr>
        <p:spPr bwMode="auto">
          <a:xfrm>
            <a:off x="502920" y="152704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FFFF"/>
                </a:solidFill>
              </a:rPr>
              <a:t>Single Responsibility</a:t>
            </a:r>
            <a:endParaRPr/>
          </a:p>
        </p:txBody>
      </p:sp>
      <p:sp>
        <p:nvSpPr>
          <p:cNvPr id="332387781" name="TextBox 8"/>
          <p:cNvSpPr txBox="1"/>
          <p:nvPr/>
        </p:nvSpPr>
        <p:spPr bwMode="auto">
          <a:xfrm>
            <a:off x="502920" y="1874519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Cada módulo tem uma única razão para mudar</a:t>
            </a:r>
            <a:endParaRPr/>
          </a:p>
        </p:txBody>
      </p:sp>
      <p:sp>
        <p:nvSpPr>
          <p:cNvPr id="1118335572" name="TextBox 9"/>
          <p:cNvSpPr txBox="1"/>
          <p:nvPr/>
        </p:nvSpPr>
        <p:spPr bwMode="auto">
          <a:xfrm>
            <a:off x="502920" y="2185415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api/auth/ cuida só de autenticação</a:t>
            </a:r>
            <a:endParaRPr/>
          </a:p>
        </p:txBody>
      </p:sp>
      <p:sp>
        <p:nvSpPr>
          <p:cNvPr id="311348252" name="TextBox 10"/>
          <p:cNvSpPr txBox="1"/>
          <p:nvPr/>
        </p:nvSpPr>
        <p:spPr bwMode="auto">
          <a:xfrm>
            <a:off x="502920" y="2496312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api/services/ cuida só de proxy ORDS</a:t>
            </a:r>
            <a:endParaRPr/>
          </a:p>
        </p:txBody>
      </p:sp>
      <p:sp>
        <p:nvSpPr>
          <p:cNvPr id="891383335" name="TextBox 11"/>
          <p:cNvSpPr txBox="1"/>
          <p:nvPr/>
        </p:nvSpPr>
        <p:spPr bwMode="auto">
          <a:xfrm>
            <a:off x="502920" y="280720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Hooks encapsulam toda lógica de negócio</a:t>
            </a:r>
            <a:endParaRPr/>
          </a:p>
        </p:txBody>
      </p:sp>
      <p:sp>
        <p:nvSpPr>
          <p:cNvPr id="554649842" name="Rectangle 12"/>
          <p:cNvSpPr/>
          <p:nvPr/>
        </p:nvSpPr>
        <p:spPr bwMode="auto">
          <a:xfrm>
            <a:off x="6263640" y="1417320"/>
            <a:ext cx="5669280" cy="22860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6397320" name="Rectangle 13"/>
          <p:cNvSpPr/>
          <p:nvPr/>
        </p:nvSpPr>
        <p:spPr bwMode="auto">
          <a:xfrm>
            <a:off x="6263640" y="1417320"/>
            <a:ext cx="54864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7444247" name="TextBox 14"/>
          <p:cNvSpPr txBox="1"/>
          <p:nvPr/>
        </p:nvSpPr>
        <p:spPr bwMode="auto">
          <a:xfrm>
            <a:off x="6400800" y="152704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FFFF"/>
                </a:solidFill>
              </a:rPr>
              <a:t>Nomes Expressivos</a:t>
            </a:r>
            <a:endParaRPr/>
          </a:p>
        </p:txBody>
      </p:sp>
      <p:sp>
        <p:nvSpPr>
          <p:cNvPr id="1791832212" name="TextBox 15"/>
          <p:cNvSpPr txBox="1"/>
          <p:nvPr/>
        </p:nvSpPr>
        <p:spPr bwMode="auto">
          <a:xfrm>
            <a:off x="6400800" y="1874519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useAsyncAction, useDashboardData, useAdminUsers</a:t>
            </a:r>
            <a:endParaRPr/>
          </a:p>
        </p:txBody>
      </p:sp>
      <p:sp>
        <p:nvSpPr>
          <p:cNvPr id="1902378494" name="TextBox 16"/>
          <p:cNvSpPr txBox="1"/>
          <p:nvPr/>
        </p:nvSpPr>
        <p:spPr bwMode="auto">
          <a:xfrm>
            <a:off x="6400800" y="2185415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authApi, clientApi, projectApi — domínio claro</a:t>
            </a:r>
            <a:endParaRPr/>
          </a:p>
        </p:txBody>
      </p:sp>
      <p:sp>
        <p:nvSpPr>
          <p:cNvPr id="255624922" name="TextBox 17"/>
          <p:cNvSpPr txBox="1"/>
          <p:nvPr/>
        </p:nvSpPr>
        <p:spPr bwMode="auto">
          <a:xfrm>
            <a:off x="6400800" y="2496312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Sem abreviações: 'err' → 'error', 'u' → 'user'</a:t>
            </a:r>
            <a:endParaRPr/>
          </a:p>
        </p:txBody>
      </p:sp>
      <p:sp>
        <p:nvSpPr>
          <p:cNvPr id="1942675520" name="TextBox 18"/>
          <p:cNvSpPr txBox="1"/>
          <p:nvPr/>
        </p:nvSpPr>
        <p:spPr bwMode="auto">
          <a:xfrm>
            <a:off x="6400800" y="280720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Tipos explícitos em TypeScript</a:t>
            </a:r>
            <a:endParaRPr/>
          </a:p>
        </p:txBody>
      </p:sp>
      <p:sp>
        <p:nvSpPr>
          <p:cNvPr id="1970929474" name="Rectangle 19"/>
          <p:cNvSpPr/>
          <p:nvPr/>
        </p:nvSpPr>
        <p:spPr bwMode="auto">
          <a:xfrm>
            <a:off x="365760" y="3886200"/>
            <a:ext cx="5669280" cy="22860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2679342" name="Rectangle 20"/>
          <p:cNvSpPr/>
          <p:nvPr/>
        </p:nvSpPr>
        <p:spPr bwMode="auto">
          <a:xfrm>
            <a:off x="365760" y="3886200"/>
            <a:ext cx="54864" cy="228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2482213" name="TextBox 21"/>
          <p:cNvSpPr txBox="1"/>
          <p:nvPr/>
        </p:nvSpPr>
        <p:spPr bwMode="auto">
          <a:xfrm>
            <a:off x="502920" y="399592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FFFF"/>
                </a:solidFill>
              </a:rPr>
              <a:t>Funções Pequenas</a:t>
            </a:r>
            <a:endParaRPr/>
          </a:p>
        </p:txBody>
      </p:sp>
      <p:sp>
        <p:nvSpPr>
          <p:cNvPr id="500813301" name="TextBox 22"/>
          <p:cNvSpPr txBox="1"/>
          <p:nvPr/>
        </p:nvSpPr>
        <p:spPr bwMode="auto">
          <a:xfrm>
            <a:off x="502920" y="43434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Nenhum arquivo ultrapassa 200 linhas</a:t>
            </a:r>
            <a:endParaRPr/>
          </a:p>
        </p:txBody>
      </p:sp>
      <p:sp>
        <p:nvSpPr>
          <p:cNvPr id="309172973" name="TextBox 23"/>
          <p:cNvSpPr txBox="1"/>
          <p:nvPr/>
        </p:nvSpPr>
        <p:spPr bwMode="auto">
          <a:xfrm>
            <a:off x="502920" y="465429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Cada função faz exatamente uma coisa</a:t>
            </a:r>
            <a:endParaRPr/>
          </a:p>
        </p:txBody>
      </p:sp>
      <p:sp>
        <p:nvSpPr>
          <p:cNvPr id="283419685" name="TextBox 24"/>
          <p:cNvSpPr txBox="1"/>
          <p:nvPr/>
        </p:nvSpPr>
        <p:spPr bwMode="auto">
          <a:xfrm>
            <a:off x="502920" y="4965192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Helpers isolados: formatCurrency, isOverdue</a:t>
            </a:r>
            <a:endParaRPr/>
          </a:p>
        </p:txBody>
      </p:sp>
      <p:sp>
        <p:nvSpPr>
          <p:cNvPr id="566294085" name="TextBox 25"/>
          <p:cNvSpPr txBox="1"/>
          <p:nvPr/>
        </p:nvSpPr>
        <p:spPr bwMode="auto">
          <a:xfrm>
            <a:off x="502920" y="527608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Componentes UI genéricos e reutilizáveis</a:t>
            </a:r>
            <a:endParaRPr/>
          </a:p>
        </p:txBody>
      </p:sp>
      <p:sp>
        <p:nvSpPr>
          <p:cNvPr id="884264167" name="Rectangle 26"/>
          <p:cNvSpPr/>
          <p:nvPr/>
        </p:nvSpPr>
        <p:spPr bwMode="auto">
          <a:xfrm>
            <a:off x="6263640" y="3886200"/>
            <a:ext cx="5669280" cy="22860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2844180" name="Rectangle 27"/>
          <p:cNvSpPr/>
          <p:nvPr/>
        </p:nvSpPr>
        <p:spPr bwMode="auto">
          <a:xfrm>
            <a:off x="6263640" y="3886200"/>
            <a:ext cx="54864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3874320" name="TextBox 28"/>
          <p:cNvSpPr txBox="1"/>
          <p:nvPr/>
        </p:nvSpPr>
        <p:spPr bwMode="auto">
          <a:xfrm>
            <a:off x="6400800" y="399592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FFFFF"/>
                </a:solidFill>
              </a:rPr>
              <a:t>Sem Comentários Óbvios</a:t>
            </a:r>
            <a:endParaRPr/>
          </a:p>
        </p:txBody>
      </p:sp>
      <p:sp>
        <p:nvSpPr>
          <p:cNvPr id="136037662" name="TextBox 29"/>
          <p:cNvSpPr txBox="1"/>
          <p:nvPr/>
        </p:nvSpPr>
        <p:spPr bwMode="auto">
          <a:xfrm>
            <a:off x="6400800" y="43434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Código autodocumentado por nomes claros</a:t>
            </a:r>
            <a:endParaRPr/>
          </a:p>
        </p:txBody>
      </p:sp>
      <p:sp>
        <p:nvSpPr>
          <p:cNvPr id="1155789840" name="TextBox 30"/>
          <p:cNvSpPr txBox="1"/>
          <p:nvPr/>
        </p:nvSpPr>
        <p:spPr bwMode="auto">
          <a:xfrm>
            <a:off x="6400800" y="465429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Comentários só para WHY, nunca para WHAT</a:t>
            </a:r>
            <a:endParaRPr/>
          </a:p>
        </p:txBody>
      </p:sp>
      <p:sp>
        <p:nvSpPr>
          <p:cNvPr id="1886252446" name="TextBox 31"/>
          <p:cNvSpPr txBox="1"/>
          <p:nvPr/>
        </p:nvSpPr>
        <p:spPr bwMode="auto">
          <a:xfrm>
            <a:off x="6400800" y="4965192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Schemas Zod como documentação viva</a:t>
            </a:r>
            <a:endParaRPr/>
          </a:p>
        </p:txBody>
      </p:sp>
      <p:sp>
        <p:nvSpPr>
          <p:cNvPr id="796400463" name="TextBox 32"/>
          <p:cNvSpPr txBox="1"/>
          <p:nvPr/>
        </p:nvSpPr>
        <p:spPr bwMode="auto">
          <a:xfrm>
            <a:off x="6400800" y="527608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E2E8F0"/>
                </a:solidFill>
              </a:rPr>
              <a:t>• TypeScript como contrato de interface</a:t>
            </a:r>
            <a:endParaRPr/>
          </a:p>
        </p:txBody>
      </p:sp>
      <p:sp>
        <p:nvSpPr>
          <p:cNvPr id="1765445654" name="TextBox 33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102020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6999376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3445726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03 · Clean Code — Na Prática</a:t>
            </a:r>
            <a:endParaRPr/>
          </a:p>
        </p:txBody>
      </p:sp>
      <p:sp>
        <p:nvSpPr>
          <p:cNvPr id="1935591680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Exemplos reais do código do projeto</a:t>
            </a:r>
            <a:endParaRPr/>
          </a:p>
        </p:txBody>
      </p:sp>
      <p:sp>
        <p:nvSpPr>
          <p:cNvPr id="1306503350" name="TextBox 5"/>
          <p:cNvSpPr txBox="1"/>
          <p:nvPr/>
        </p:nvSpPr>
        <p:spPr bwMode="auto">
          <a:xfrm>
            <a:off x="45720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3B82F6"/>
                </a:solidFill>
              </a:rPr>
              <a:t>Separação de camadas — api.ts</a:t>
            </a:r>
            <a:endParaRPr/>
          </a:p>
        </p:txBody>
      </p:sp>
      <p:sp>
        <p:nvSpPr>
          <p:cNvPr id="1784445977" name="Rectangle 6"/>
          <p:cNvSpPr/>
          <p:nvPr/>
        </p:nvSpPr>
        <p:spPr bwMode="auto">
          <a:xfrm>
            <a:off x="457200" y="1691640"/>
            <a:ext cx="6858000" cy="1920240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410987" name="Rectangle 7"/>
          <p:cNvSpPr/>
          <p:nvPr/>
        </p:nvSpPr>
        <p:spPr bwMode="auto">
          <a:xfrm>
            <a:off x="457200" y="1691640"/>
            <a:ext cx="6858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6702010" name="TextBox 8"/>
          <p:cNvSpPr txBox="1"/>
          <p:nvPr/>
        </p:nvSpPr>
        <p:spPr bwMode="auto">
          <a:xfrm>
            <a:off x="621792" y="1783080"/>
            <a:ext cx="6583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// Cada entidade tem sua própria API — responsabilidade única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export const clientApi = {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async list(userId: number): Promise&lt;Client[]&gt; { ... },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async create(data: Omit&lt;Client, 'id' | 'created_at'&gt;): Promise&lt;Client&gt; { ... },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async delete(id: number): Promise&lt;boolean&gt; { ... },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}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export const projectApi = {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async list(userId: number): Promise&lt;Project[]&gt; { ... },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async get(id: number): Promise&lt;ProjectWithSteps&gt; { ... },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}</a:t>
            </a:r>
            <a:endParaRPr/>
          </a:p>
        </p:txBody>
      </p:sp>
      <p:sp>
        <p:nvSpPr>
          <p:cNvPr id="728022288" name="TextBox 9"/>
          <p:cNvSpPr txBox="1"/>
          <p:nvPr/>
        </p:nvSpPr>
        <p:spPr bwMode="auto">
          <a:xfrm>
            <a:off x="457200" y="3749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22C55E"/>
                </a:solidFill>
              </a:rPr>
              <a:t>Hook com responsabilidade única — useAsyncAction.ts</a:t>
            </a:r>
            <a:endParaRPr/>
          </a:p>
        </p:txBody>
      </p:sp>
      <p:sp>
        <p:nvSpPr>
          <p:cNvPr id="114502758" name="Rectangle 10"/>
          <p:cNvSpPr/>
          <p:nvPr/>
        </p:nvSpPr>
        <p:spPr bwMode="auto">
          <a:xfrm>
            <a:off x="457200" y="4114800"/>
            <a:ext cx="6858000" cy="2286000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2639292" name="Rectangle 11"/>
          <p:cNvSpPr/>
          <p:nvPr/>
        </p:nvSpPr>
        <p:spPr bwMode="auto">
          <a:xfrm>
            <a:off x="457200" y="4114800"/>
            <a:ext cx="68580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6906790" name="TextBox 12"/>
          <p:cNvSpPr txBox="1"/>
          <p:nvPr/>
        </p:nvSpPr>
        <p:spPr bwMode="auto">
          <a:xfrm>
            <a:off x="621792" y="4206240"/>
            <a:ext cx="6583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// Encapsula loading + error para qualquer ação assíncrona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export function useAsyncAction() {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const [working, setWorking] = useState(false)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const [error, setError] = useState&lt;string | null&gt;(null)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async function execute&lt;T&gt;(fn: () =&gt; Promise&lt;T&gt;): Promise&lt;T | undefined&gt; {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setWorking(true); setError(null)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try { return await fn() }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catch (e) { setError(e instanceof Error ? e.message : 'Erro') }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finally { setWorking(false) }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}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return { working, error, execute }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}</a:t>
            </a:r>
            <a:endParaRPr/>
          </a:p>
        </p:txBody>
      </p:sp>
      <p:sp>
        <p:nvSpPr>
          <p:cNvPr id="550181552" name="Rectangle 13"/>
          <p:cNvSpPr/>
          <p:nvPr/>
        </p:nvSpPr>
        <p:spPr bwMode="auto">
          <a:xfrm>
            <a:off x="7498079" y="1691640"/>
            <a:ext cx="4389120" cy="47091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9618534" name="TextBox 14"/>
          <p:cNvSpPr txBox="1"/>
          <p:nvPr/>
        </p:nvSpPr>
        <p:spPr bwMode="auto">
          <a:xfrm>
            <a:off x="7635240" y="18105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FFFFFF"/>
                </a:solidFill>
              </a:rPr>
              <a:t>Métricas Clean Code</a:t>
            </a:r>
            <a:endParaRPr/>
          </a:p>
        </p:txBody>
      </p:sp>
      <p:sp>
        <p:nvSpPr>
          <p:cNvPr id="71286458" name="Rectangle 15"/>
          <p:cNvSpPr/>
          <p:nvPr/>
        </p:nvSpPr>
        <p:spPr bwMode="auto">
          <a:xfrm>
            <a:off x="7589520" y="2286000"/>
            <a:ext cx="420624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946662" name="Rectangle 16"/>
          <p:cNvSpPr/>
          <p:nvPr/>
        </p:nvSpPr>
        <p:spPr bwMode="auto">
          <a:xfrm>
            <a:off x="7589520" y="2286000"/>
            <a:ext cx="54864" cy="5303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757316" name="TextBox 17"/>
          <p:cNvSpPr txBox="1"/>
          <p:nvPr/>
        </p:nvSpPr>
        <p:spPr bwMode="auto">
          <a:xfrm>
            <a:off x="7726679" y="23317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A9BB0"/>
                </a:solidFill>
              </a:rPr>
              <a:t>Maior arquivo</a:t>
            </a:r>
            <a:endParaRPr/>
          </a:p>
        </p:txBody>
      </p:sp>
      <p:sp>
        <p:nvSpPr>
          <p:cNvPr id="569209688" name="TextBox 18"/>
          <p:cNvSpPr txBox="1"/>
          <p:nvPr/>
        </p:nvSpPr>
        <p:spPr bwMode="auto">
          <a:xfrm>
            <a:off x="7726679" y="254203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FFFFFF"/>
                </a:solidFill>
              </a:rPr>
              <a:t>&lt; 200 linhas</a:t>
            </a:r>
            <a:endParaRPr/>
          </a:p>
        </p:txBody>
      </p:sp>
      <p:sp>
        <p:nvSpPr>
          <p:cNvPr id="966637878" name="Rectangle 19"/>
          <p:cNvSpPr/>
          <p:nvPr/>
        </p:nvSpPr>
        <p:spPr bwMode="auto">
          <a:xfrm>
            <a:off x="7589520" y="2944368"/>
            <a:ext cx="420624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5983804" name="Rectangle 20"/>
          <p:cNvSpPr/>
          <p:nvPr/>
        </p:nvSpPr>
        <p:spPr bwMode="auto">
          <a:xfrm>
            <a:off x="7589520" y="2944368"/>
            <a:ext cx="54864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2719524" name="TextBox 21"/>
          <p:cNvSpPr txBox="1"/>
          <p:nvPr/>
        </p:nvSpPr>
        <p:spPr bwMode="auto">
          <a:xfrm>
            <a:off x="7726679" y="2990087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A9BB0"/>
                </a:solidFill>
              </a:rPr>
              <a:t>Componentes UI</a:t>
            </a:r>
            <a:endParaRPr/>
          </a:p>
        </p:txBody>
      </p:sp>
      <p:sp>
        <p:nvSpPr>
          <p:cNvPr id="1851611519" name="TextBox 22"/>
          <p:cNvSpPr txBox="1"/>
          <p:nvPr/>
        </p:nvSpPr>
        <p:spPr bwMode="auto">
          <a:xfrm>
            <a:off x="7726679" y="32004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FFFFFF"/>
                </a:solidFill>
              </a:rPr>
              <a:t>5 reutilizáveis</a:t>
            </a:r>
            <a:endParaRPr/>
          </a:p>
        </p:txBody>
      </p:sp>
      <p:sp>
        <p:nvSpPr>
          <p:cNvPr id="1531851888" name="Rectangle 23"/>
          <p:cNvSpPr/>
          <p:nvPr/>
        </p:nvSpPr>
        <p:spPr bwMode="auto">
          <a:xfrm>
            <a:off x="7589520" y="3602735"/>
            <a:ext cx="420624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105217" name="Rectangle 24"/>
          <p:cNvSpPr/>
          <p:nvPr/>
        </p:nvSpPr>
        <p:spPr bwMode="auto">
          <a:xfrm>
            <a:off x="7589520" y="3602735"/>
            <a:ext cx="54864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7874305" name="TextBox 25"/>
          <p:cNvSpPr txBox="1"/>
          <p:nvPr/>
        </p:nvSpPr>
        <p:spPr bwMode="auto">
          <a:xfrm>
            <a:off x="7726679" y="36484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A9BB0"/>
                </a:solidFill>
              </a:rPr>
              <a:t>Hooks customizados</a:t>
            </a:r>
            <a:endParaRPr/>
          </a:p>
        </p:txBody>
      </p:sp>
      <p:sp>
        <p:nvSpPr>
          <p:cNvPr id="603227226" name="TextBox 26"/>
          <p:cNvSpPr txBox="1"/>
          <p:nvPr/>
        </p:nvSpPr>
        <p:spPr bwMode="auto">
          <a:xfrm>
            <a:off x="7726679" y="38587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FFFFFF"/>
                </a:solidFill>
              </a:rPr>
              <a:t>4 especializados</a:t>
            </a:r>
            <a:endParaRPr/>
          </a:p>
        </p:txBody>
      </p:sp>
      <p:sp>
        <p:nvSpPr>
          <p:cNvPr id="1697510851" name="Rectangle 27"/>
          <p:cNvSpPr/>
          <p:nvPr/>
        </p:nvSpPr>
        <p:spPr bwMode="auto">
          <a:xfrm>
            <a:off x="7589520" y="4261104"/>
            <a:ext cx="420624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7361481" name="Rectangle 28"/>
          <p:cNvSpPr/>
          <p:nvPr/>
        </p:nvSpPr>
        <p:spPr bwMode="auto">
          <a:xfrm>
            <a:off x="7589520" y="4261104"/>
            <a:ext cx="54864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4130068" name="TextBox 29"/>
          <p:cNvSpPr txBox="1"/>
          <p:nvPr/>
        </p:nvSpPr>
        <p:spPr bwMode="auto">
          <a:xfrm>
            <a:off x="7726679" y="43068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A9BB0"/>
                </a:solidFill>
              </a:rPr>
              <a:t>Camadas isoladas</a:t>
            </a:r>
            <a:endParaRPr/>
          </a:p>
        </p:txBody>
      </p:sp>
      <p:sp>
        <p:nvSpPr>
          <p:cNvPr id="577137453" name="TextBox 30"/>
          <p:cNvSpPr txBox="1"/>
          <p:nvPr/>
        </p:nvSpPr>
        <p:spPr bwMode="auto">
          <a:xfrm>
            <a:off x="7726679" y="451713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FFFFFF"/>
                </a:solidFill>
              </a:rPr>
              <a:t>UI / Hook / API</a:t>
            </a:r>
            <a:endParaRPr/>
          </a:p>
        </p:txBody>
      </p:sp>
      <p:sp>
        <p:nvSpPr>
          <p:cNvPr id="594370584" name="Rectangle 31"/>
          <p:cNvSpPr/>
          <p:nvPr/>
        </p:nvSpPr>
        <p:spPr bwMode="auto">
          <a:xfrm>
            <a:off x="7589520" y="4919471"/>
            <a:ext cx="420624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6423184" name="Rectangle 32"/>
          <p:cNvSpPr/>
          <p:nvPr/>
        </p:nvSpPr>
        <p:spPr bwMode="auto">
          <a:xfrm>
            <a:off x="7589520" y="4919471"/>
            <a:ext cx="54864" cy="5303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840148" name="TextBox 33"/>
          <p:cNvSpPr txBox="1"/>
          <p:nvPr/>
        </p:nvSpPr>
        <p:spPr bwMode="auto">
          <a:xfrm>
            <a:off x="7726679" y="49651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A9BB0"/>
                </a:solidFill>
              </a:rPr>
              <a:t>Tipagem</a:t>
            </a:r>
            <a:endParaRPr/>
          </a:p>
        </p:txBody>
      </p:sp>
      <p:sp>
        <p:nvSpPr>
          <p:cNvPr id="175063361" name="TextBox 34"/>
          <p:cNvSpPr txBox="1"/>
          <p:nvPr/>
        </p:nvSpPr>
        <p:spPr bwMode="auto">
          <a:xfrm>
            <a:off x="7726679" y="517550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FFFFFF"/>
                </a:solidFill>
              </a:rPr>
              <a:t>TypeScript estrito</a:t>
            </a:r>
            <a:endParaRPr/>
          </a:p>
        </p:txBody>
      </p:sp>
      <p:sp>
        <p:nvSpPr>
          <p:cNvPr id="589442924" name="Rectangle 35"/>
          <p:cNvSpPr/>
          <p:nvPr/>
        </p:nvSpPr>
        <p:spPr bwMode="auto">
          <a:xfrm>
            <a:off x="7589520" y="5577840"/>
            <a:ext cx="420624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8913218" name="Rectangle 36"/>
          <p:cNvSpPr/>
          <p:nvPr/>
        </p:nvSpPr>
        <p:spPr bwMode="auto">
          <a:xfrm>
            <a:off x="7589520" y="5577840"/>
            <a:ext cx="54864" cy="5303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6555644" name="TextBox 37"/>
          <p:cNvSpPr txBox="1"/>
          <p:nvPr/>
        </p:nvSpPr>
        <p:spPr bwMode="auto">
          <a:xfrm>
            <a:off x="7726679" y="562355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8A9BB0"/>
                </a:solidFill>
              </a:rPr>
              <a:t>Schemas</a:t>
            </a:r>
            <a:endParaRPr/>
          </a:p>
        </p:txBody>
      </p:sp>
      <p:sp>
        <p:nvSpPr>
          <p:cNvPr id="2114834757" name="TextBox 38"/>
          <p:cNvSpPr txBox="1"/>
          <p:nvPr/>
        </p:nvSpPr>
        <p:spPr bwMode="auto">
          <a:xfrm>
            <a:off x="7726679" y="58338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FFFFFF"/>
                </a:solidFill>
              </a:rPr>
              <a:t>Zod + inferência</a:t>
            </a:r>
            <a:endParaRPr/>
          </a:p>
        </p:txBody>
      </p:sp>
      <p:sp>
        <p:nvSpPr>
          <p:cNvPr id="1070417239" name="TextBox 39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466072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0892203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5306541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04 · TDD — Test-Driven Development</a:t>
            </a:r>
            <a:endParaRPr/>
          </a:p>
        </p:txBody>
      </p:sp>
      <p:sp>
        <p:nvSpPr>
          <p:cNvPr id="2019972050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Ciclo Red → Green → Refactor aplicado ao projeto</a:t>
            </a:r>
            <a:endParaRPr/>
          </a:p>
        </p:txBody>
      </p:sp>
      <p:sp>
        <p:nvSpPr>
          <p:cNvPr id="1218725239" name="Rectangle 5"/>
          <p:cNvSpPr/>
          <p:nvPr/>
        </p:nvSpPr>
        <p:spPr bwMode="auto">
          <a:xfrm>
            <a:off x="457200" y="1325880"/>
            <a:ext cx="3566160" cy="1371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9666070" name="Rectangle 6"/>
          <p:cNvSpPr/>
          <p:nvPr/>
        </p:nvSpPr>
        <p:spPr bwMode="auto">
          <a:xfrm>
            <a:off x="457200" y="1325880"/>
            <a:ext cx="35661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2934487" name="TextBox 7"/>
          <p:cNvSpPr txBox="1"/>
          <p:nvPr/>
        </p:nvSpPr>
        <p:spPr bwMode="auto">
          <a:xfrm>
            <a:off x="594360" y="14447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 i="0">
                <a:solidFill>
                  <a:srgbClr val="EF4444"/>
                </a:solidFill>
              </a:rPr>
              <a:t>RED</a:t>
            </a:r>
            <a:endParaRPr/>
          </a:p>
        </p:txBody>
      </p:sp>
      <p:sp>
        <p:nvSpPr>
          <p:cNvPr id="268396260" name="TextBox 8"/>
          <p:cNvSpPr txBox="1"/>
          <p:nvPr/>
        </p:nvSpPr>
        <p:spPr bwMode="auto">
          <a:xfrm>
            <a:off x="594360" y="1874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FFFFFF"/>
                </a:solidFill>
              </a:rPr>
              <a:t>Escrever o teste</a:t>
            </a:r>
            <a:endParaRPr/>
          </a:p>
        </p:txBody>
      </p:sp>
      <p:sp>
        <p:nvSpPr>
          <p:cNvPr id="1730056760" name="TextBox 9"/>
          <p:cNvSpPr txBox="1"/>
          <p:nvPr/>
        </p:nvSpPr>
        <p:spPr bwMode="auto">
          <a:xfrm>
            <a:off x="594360" y="2194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1">
                <a:solidFill>
                  <a:srgbClr val="8A9BB0"/>
                </a:solidFill>
              </a:rPr>
              <a:t>Teste falha — comportamento ainda não existe</a:t>
            </a:r>
            <a:endParaRPr/>
          </a:p>
        </p:txBody>
      </p:sp>
      <p:sp>
        <p:nvSpPr>
          <p:cNvPr id="641388545" name="TextBox 10"/>
          <p:cNvSpPr txBox="1"/>
          <p:nvPr/>
        </p:nvSpPr>
        <p:spPr bwMode="auto">
          <a:xfrm>
            <a:off x="41148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200" b="0" i="0">
                <a:solidFill>
                  <a:srgbClr val="8A9BB0"/>
                </a:solidFill>
              </a:rPr>
              <a:t>→</a:t>
            </a:r>
            <a:endParaRPr/>
          </a:p>
        </p:txBody>
      </p:sp>
      <p:sp>
        <p:nvSpPr>
          <p:cNvPr id="104742871" name="Rectangle 11"/>
          <p:cNvSpPr/>
          <p:nvPr/>
        </p:nvSpPr>
        <p:spPr bwMode="auto">
          <a:xfrm>
            <a:off x="4297680" y="1325880"/>
            <a:ext cx="3566160" cy="1371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3147019" name="Rectangle 12"/>
          <p:cNvSpPr/>
          <p:nvPr/>
        </p:nvSpPr>
        <p:spPr bwMode="auto">
          <a:xfrm>
            <a:off x="4297680" y="1325880"/>
            <a:ext cx="356616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2920210" name="TextBox 13"/>
          <p:cNvSpPr txBox="1"/>
          <p:nvPr/>
        </p:nvSpPr>
        <p:spPr bwMode="auto">
          <a:xfrm>
            <a:off x="4434840" y="14447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 i="0">
                <a:solidFill>
                  <a:srgbClr val="22C55E"/>
                </a:solidFill>
              </a:rPr>
              <a:t>GREEN</a:t>
            </a:r>
            <a:endParaRPr/>
          </a:p>
        </p:txBody>
      </p:sp>
      <p:sp>
        <p:nvSpPr>
          <p:cNvPr id="2009036695" name="TextBox 14"/>
          <p:cNvSpPr txBox="1"/>
          <p:nvPr/>
        </p:nvSpPr>
        <p:spPr bwMode="auto">
          <a:xfrm>
            <a:off x="4434840" y="1874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FFFFFF"/>
                </a:solidFill>
              </a:rPr>
              <a:t>Implementar</a:t>
            </a:r>
            <a:endParaRPr/>
          </a:p>
        </p:txBody>
      </p:sp>
      <p:sp>
        <p:nvSpPr>
          <p:cNvPr id="709667585" name="TextBox 15"/>
          <p:cNvSpPr txBox="1"/>
          <p:nvPr/>
        </p:nvSpPr>
        <p:spPr bwMode="auto">
          <a:xfrm>
            <a:off x="4434840" y="2194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1">
                <a:solidFill>
                  <a:srgbClr val="8A9BB0"/>
                </a:solidFill>
              </a:rPr>
              <a:t>Código mínimo para o teste passar</a:t>
            </a:r>
            <a:endParaRPr/>
          </a:p>
        </p:txBody>
      </p:sp>
      <p:sp>
        <p:nvSpPr>
          <p:cNvPr id="1469833034" name="TextBox 16"/>
          <p:cNvSpPr txBox="1"/>
          <p:nvPr/>
        </p:nvSpPr>
        <p:spPr bwMode="auto">
          <a:xfrm>
            <a:off x="7955279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200" b="0" i="0">
                <a:solidFill>
                  <a:srgbClr val="8A9BB0"/>
                </a:solidFill>
              </a:rPr>
              <a:t>→</a:t>
            </a:r>
            <a:endParaRPr/>
          </a:p>
        </p:txBody>
      </p:sp>
      <p:sp>
        <p:nvSpPr>
          <p:cNvPr id="1972405215" name="Rectangle 17"/>
          <p:cNvSpPr/>
          <p:nvPr/>
        </p:nvSpPr>
        <p:spPr bwMode="auto">
          <a:xfrm>
            <a:off x="8138160" y="1325880"/>
            <a:ext cx="3566160" cy="1371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4301310" name="Rectangle 18"/>
          <p:cNvSpPr/>
          <p:nvPr/>
        </p:nvSpPr>
        <p:spPr bwMode="auto">
          <a:xfrm>
            <a:off x="8138160" y="1325880"/>
            <a:ext cx="35661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1872150" name="TextBox 19"/>
          <p:cNvSpPr txBox="1"/>
          <p:nvPr/>
        </p:nvSpPr>
        <p:spPr bwMode="auto">
          <a:xfrm>
            <a:off x="8275320" y="14447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 i="0">
                <a:solidFill>
                  <a:srgbClr val="3B82F6"/>
                </a:solidFill>
              </a:rPr>
              <a:t>REFACTOR</a:t>
            </a:r>
            <a:endParaRPr/>
          </a:p>
        </p:txBody>
      </p:sp>
      <p:sp>
        <p:nvSpPr>
          <p:cNvPr id="1070425430" name="TextBox 20"/>
          <p:cNvSpPr txBox="1"/>
          <p:nvPr/>
        </p:nvSpPr>
        <p:spPr bwMode="auto">
          <a:xfrm>
            <a:off x="8275320" y="1874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FFFFFF"/>
                </a:solidFill>
              </a:rPr>
              <a:t>Refatorar</a:t>
            </a:r>
            <a:endParaRPr/>
          </a:p>
        </p:txBody>
      </p:sp>
      <p:sp>
        <p:nvSpPr>
          <p:cNvPr id="1082903033" name="TextBox 21"/>
          <p:cNvSpPr txBox="1"/>
          <p:nvPr/>
        </p:nvSpPr>
        <p:spPr bwMode="auto">
          <a:xfrm>
            <a:off x="8275320" y="2194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1">
                <a:solidFill>
                  <a:srgbClr val="8A9BB0"/>
                </a:solidFill>
              </a:rPr>
              <a:t>Melhorar sem quebrar os testes existentes</a:t>
            </a:r>
            <a:endParaRPr/>
          </a:p>
        </p:txBody>
      </p:sp>
      <p:sp>
        <p:nvSpPr>
          <p:cNvPr id="668462679" name="TextBox 22"/>
          <p:cNvSpPr txBox="1"/>
          <p:nvPr/>
        </p:nvSpPr>
        <p:spPr bwMode="auto">
          <a:xfrm>
            <a:off x="457200" y="2880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FFFFFF"/>
                </a:solidFill>
              </a:rPr>
              <a:t>Suíte de Testes — Resultados</a:t>
            </a:r>
            <a:endParaRPr/>
          </a:p>
        </p:txBody>
      </p:sp>
      <p:sp>
        <p:nvSpPr>
          <p:cNvPr id="865613095" name="Rectangle 23"/>
          <p:cNvSpPr/>
          <p:nvPr/>
        </p:nvSpPr>
        <p:spPr bwMode="auto">
          <a:xfrm>
            <a:off x="457200" y="3246120"/>
            <a:ext cx="7132320" cy="3200400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3717177" name="Rectangle 24"/>
          <p:cNvSpPr/>
          <p:nvPr/>
        </p:nvSpPr>
        <p:spPr bwMode="auto">
          <a:xfrm>
            <a:off x="457200" y="3246120"/>
            <a:ext cx="71323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7320643" name="TextBox 25"/>
          <p:cNvSpPr txBox="1"/>
          <p:nvPr/>
        </p:nvSpPr>
        <p:spPr bwMode="auto">
          <a:xfrm>
            <a:off x="621792" y="3337560"/>
            <a:ext cx="68580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✓ schemas.test.ts › loginSchema › aceita credenciais válidas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✓ schemas.test.ts › loginSchema › rejeita email inválido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✓ schemas.test.ts › registerSchema › rejeita nome muito curto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✓ schemas.test.ts › parametersSchema › rejeita margem acima de 100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✓ utils.test.ts › formatCurrency › formata valores em BRL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✓ utils.test.ts › formatDate › retorna traço para undefined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✓ utils.test.ts › isOverdue › retorna true para data no passado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✓ useAsyncAction.test.ts › captura erro em error state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✓ useAsyncAction.test.ts › retorna resultado da função executada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✓ Button.test.tsx › variant danger aplica classe text-red-400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Test Files  4 passed (4)   |   Tests  28 passed (28)   |   Duration ~700ms</a:t>
            </a:r>
            <a:endParaRPr/>
          </a:p>
        </p:txBody>
      </p:sp>
      <p:sp>
        <p:nvSpPr>
          <p:cNvPr id="477780663" name="Rectangle 26"/>
          <p:cNvSpPr/>
          <p:nvPr/>
        </p:nvSpPr>
        <p:spPr bwMode="auto">
          <a:xfrm>
            <a:off x="7818120" y="3246120"/>
            <a:ext cx="1920240" cy="13258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9309593" name="TextBox 27"/>
          <p:cNvSpPr txBox="1"/>
          <p:nvPr/>
        </p:nvSpPr>
        <p:spPr bwMode="auto">
          <a:xfrm>
            <a:off x="7909560" y="3383279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200" b="1" i="0">
                <a:solidFill>
                  <a:srgbClr val="22C55E"/>
                </a:solidFill>
              </a:rPr>
              <a:t>4</a:t>
            </a:r>
            <a:endParaRPr/>
          </a:p>
        </p:txBody>
      </p:sp>
      <p:sp>
        <p:nvSpPr>
          <p:cNvPr id="1837019731" name="TextBox 28"/>
          <p:cNvSpPr txBox="1"/>
          <p:nvPr/>
        </p:nvSpPr>
        <p:spPr bwMode="auto">
          <a:xfrm>
            <a:off x="7909560" y="4087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Test Files</a:t>
            </a:r>
            <a:endParaRPr/>
          </a:p>
        </p:txBody>
      </p:sp>
      <p:sp>
        <p:nvSpPr>
          <p:cNvPr id="1360881112" name="Rectangle 29"/>
          <p:cNvSpPr/>
          <p:nvPr/>
        </p:nvSpPr>
        <p:spPr bwMode="auto">
          <a:xfrm>
            <a:off x="9921240" y="3246120"/>
            <a:ext cx="1920240" cy="13258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9179879" name="TextBox 30"/>
          <p:cNvSpPr txBox="1"/>
          <p:nvPr/>
        </p:nvSpPr>
        <p:spPr bwMode="auto">
          <a:xfrm>
            <a:off x="10012680" y="3383279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200" b="1" i="0">
                <a:solidFill>
                  <a:srgbClr val="3B82F6"/>
                </a:solidFill>
              </a:rPr>
              <a:t>28</a:t>
            </a:r>
            <a:endParaRPr/>
          </a:p>
        </p:txBody>
      </p:sp>
      <p:sp>
        <p:nvSpPr>
          <p:cNvPr id="7581015" name="TextBox 31"/>
          <p:cNvSpPr txBox="1"/>
          <p:nvPr/>
        </p:nvSpPr>
        <p:spPr bwMode="auto">
          <a:xfrm>
            <a:off x="10012680" y="4087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Total Tests</a:t>
            </a:r>
            <a:endParaRPr/>
          </a:p>
        </p:txBody>
      </p:sp>
      <p:sp>
        <p:nvSpPr>
          <p:cNvPr id="71039640" name="Rectangle 32"/>
          <p:cNvSpPr/>
          <p:nvPr/>
        </p:nvSpPr>
        <p:spPr bwMode="auto">
          <a:xfrm>
            <a:off x="7818120" y="4754879"/>
            <a:ext cx="1920240" cy="13258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5286120" name="TextBox 33"/>
          <p:cNvSpPr txBox="1"/>
          <p:nvPr/>
        </p:nvSpPr>
        <p:spPr bwMode="auto">
          <a:xfrm>
            <a:off x="7909560" y="4892039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200" b="1" i="0">
                <a:solidFill>
                  <a:srgbClr val="F59E0B"/>
                </a:solidFill>
              </a:rPr>
              <a:t>100%</a:t>
            </a:r>
            <a:endParaRPr/>
          </a:p>
        </p:txBody>
      </p:sp>
      <p:sp>
        <p:nvSpPr>
          <p:cNvPr id="299266256" name="TextBox 34"/>
          <p:cNvSpPr txBox="1"/>
          <p:nvPr/>
        </p:nvSpPr>
        <p:spPr bwMode="auto">
          <a:xfrm>
            <a:off x="7909560" y="559612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Coverage</a:t>
            </a:r>
            <a:endParaRPr/>
          </a:p>
        </p:txBody>
      </p:sp>
      <p:sp>
        <p:nvSpPr>
          <p:cNvPr id="752449787" name="Rectangle 35"/>
          <p:cNvSpPr/>
          <p:nvPr/>
        </p:nvSpPr>
        <p:spPr bwMode="auto">
          <a:xfrm>
            <a:off x="9921240" y="4754879"/>
            <a:ext cx="1920240" cy="13258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7525448" name="TextBox 36"/>
          <p:cNvSpPr txBox="1"/>
          <p:nvPr/>
        </p:nvSpPr>
        <p:spPr bwMode="auto">
          <a:xfrm>
            <a:off x="10012680" y="4892039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200" b="1" i="0">
                <a:solidFill>
                  <a:srgbClr val="06B6D4"/>
                </a:solidFill>
              </a:rPr>
              <a:t>~700ms</a:t>
            </a:r>
            <a:endParaRPr/>
          </a:p>
        </p:txBody>
      </p:sp>
      <p:sp>
        <p:nvSpPr>
          <p:cNvPr id="1058616821" name="TextBox 37"/>
          <p:cNvSpPr txBox="1"/>
          <p:nvPr/>
        </p:nvSpPr>
        <p:spPr bwMode="auto">
          <a:xfrm>
            <a:off x="10012680" y="559612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Duration</a:t>
            </a:r>
            <a:endParaRPr/>
          </a:p>
        </p:txBody>
      </p:sp>
      <p:sp>
        <p:nvSpPr>
          <p:cNvPr id="1135690633" name="TextBox 38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7914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5189387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7208827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05 · BDD — Behavior-Driven Development</a:t>
            </a:r>
            <a:endParaRPr/>
          </a:p>
        </p:txBody>
      </p:sp>
      <p:sp>
        <p:nvSpPr>
          <p:cNvPr id="182039357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Cenários em linguagem natural executáveis com Playwright + Cucumber</a:t>
            </a:r>
            <a:endParaRPr/>
          </a:p>
        </p:txBody>
      </p:sp>
      <p:sp>
        <p:nvSpPr>
          <p:cNvPr id="1284139531" name="TextBox 5"/>
          <p:cNvSpPr txBox="1"/>
          <p:nvPr/>
        </p:nvSpPr>
        <p:spPr bwMode="auto">
          <a:xfrm>
            <a:off x="45720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8B5CF6"/>
                </a:solidFill>
              </a:rPr>
              <a:t>Feature: Autenticação</a:t>
            </a:r>
            <a:endParaRPr/>
          </a:p>
        </p:txBody>
      </p:sp>
      <p:sp>
        <p:nvSpPr>
          <p:cNvPr id="1445626759" name="Rectangle 6"/>
          <p:cNvSpPr/>
          <p:nvPr/>
        </p:nvSpPr>
        <p:spPr bwMode="auto">
          <a:xfrm>
            <a:off x="457200" y="1691640"/>
            <a:ext cx="5486400" cy="3017519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0242508" name="Rectangle 7"/>
          <p:cNvSpPr/>
          <p:nvPr/>
        </p:nvSpPr>
        <p:spPr bwMode="auto">
          <a:xfrm>
            <a:off x="457200" y="1691640"/>
            <a:ext cx="54864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0456017" name="TextBox 8"/>
          <p:cNvSpPr txBox="1"/>
          <p:nvPr/>
        </p:nvSpPr>
        <p:spPr bwMode="auto">
          <a:xfrm>
            <a:off x="621792" y="1783080"/>
            <a:ext cx="5212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Feature: Autenticação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Como usuário do sistema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Quero fazer login com minhas credenciais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Para acessar o painel de gestão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Scenario: Login com credenciais inválidas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Given estou na página de login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When preencho o email "invalido@teste.com" e senha "senhaerrada"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And clico em Entrar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Then vejo a mensagem "Email ou senha incorretos"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Scenario: Validação de senha curta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Given estou na página de login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When preencho o email "teste@teste.com" e senha "123"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And clico em Entrar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Then vejo a mensagem "pelo menos 6 caracteres"</a:t>
            </a:r>
            <a:endParaRPr/>
          </a:p>
        </p:txBody>
      </p:sp>
      <p:sp>
        <p:nvSpPr>
          <p:cNvPr id="1706616693" name="TextBox 9"/>
          <p:cNvSpPr txBox="1"/>
          <p:nvPr/>
        </p:nvSpPr>
        <p:spPr bwMode="auto">
          <a:xfrm>
            <a:off x="621792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EF4444"/>
                </a:solidFill>
              </a:rPr>
              <a:t>Feature: Painel Admin</a:t>
            </a:r>
            <a:endParaRPr/>
          </a:p>
        </p:txBody>
      </p:sp>
      <p:sp>
        <p:nvSpPr>
          <p:cNvPr id="1844005900" name="Rectangle 10"/>
          <p:cNvSpPr/>
          <p:nvPr/>
        </p:nvSpPr>
        <p:spPr bwMode="auto">
          <a:xfrm>
            <a:off x="6217920" y="1691640"/>
            <a:ext cx="5669280" cy="3017519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1942205" name="Rectangle 11"/>
          <p:cNvSpPr/>
          <p:nvPr/>
        </p:nvSpPr>
        <p:spPr bwMode="auto">
          <a:xfrm>
            <a:off x="6217920" y="1691640"/>
            <a:ext cx="56692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0725773" name="TextBox 12"/>
          <p:cNvSpPr txBox="1"/>
          <p:nvPr/>
        </p:nvSpPr>
        <p:spPr bwMode="auto">
          <a:xfrm>
            <a:off x="6382512" y="1783080"/>
            <a:ext cx="53949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Feature: Painel Admin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Como administrador do sistema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Quero controlar o acesso de usuários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Para garantir segurança da plataforma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Scenario: Cadastro gera conta pendente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Given estou na página de login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When clico em "Criar conta"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And preencho nome, email e senha válidos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And clico em "Criar conta"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Then vejo "Aguarde aprovação do administrador"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Scenario: Admin vê painel de administração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Given estou autenticado como administrador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When acesso /admin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Then vejo o título "Painel Admin"</a:t>
            </a:r>
            <a:endParaRPr/>
          </a:p>
        </p:txBody>
      </p:sp>
      <p:sp>
        <p:nvSpPr>
          <p:cNvPr id="1456237024" name="TextBox 13"/>
          <p:cNvSpPr txBox="1"/>
          <p:nvPr/>
        </p:nvSpPr>
        <p:spPr bwMode="auto">
          <a:xfrm>
            <a:off x="457200" y="4892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FFFFFF"/>
                </a:solidFill>
              </a:rPr>
              <a:t>Por que BDD?</a:t>
            </a:r>
            <a:endParaRPr/>
          </a:p>
        </p:txBody>
      </p:sp>
      <p:sp>
        <p:nvSpPr>
          <p:cNvPr id="5223490" name="Rectangle 14"/>
          <p:cNvSpPr/>
          <p:nvPr/>
        </p:nvSpPr>
        <p:spPr bwMode="auto">
          <a:xfrm>
            <a:off x="365760" y="5257800"/>
            <a:ext cx="2743200" cy="12801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2889223" name="Rectangle 15"/>
          <p:cNvSpPr/>
          <p:nvPr/>
        </p:nvSpPr>
        <p:spPr bwMode="auto">
          <a:xfrm>
            <a:off x="365760" y="5257800"/>
            <a:ext cx="27432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7858385" name="TextBox 16"/>
          <p:cNvSpPr txBox="1"/>
          <p:nvPr/>
        </p:nvSpPr>
        <p:spPr bwMode="auto">
          <a:xfrm>
            <a:off x="475488" y="537667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8B5CF6"/>
                </a:solidFill>
              </a:rPr>
              <a:t>Linguagem ubíqua</a:t>
            </a:r>
            <a:endParaRPr/>
          </a:p>
        </p:txBody>
      </p:sp>
      <p:sp>
        <p:nvSpPr>
          <p:cNvPr id="911188519" name="TextBox 17"/>
          <p:cNvSpPr txBox="1"/>
          <p:nvPr/>
        </p:nvSpPr>
        <p:spPr bwMode="auto">
          <a:xfrm>
            <a:off x="475488" y="5715000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Cenários legíveis por PO, dev e QA</a:t>
            </a:r>
            <a:endParaRPr/>
          </a:p>
        </p:txBody>
      </p:sp>
      <p:sp>
        <p:nvSpPr>
          <p:cNvPr id="700917281" name="Rectangle 18"/>
          <p:cNvSpPr/>
          <p:nvPr/>
        </p:nvSpPr>
        <p:spPr bwMode="auto">
          <a:xfrm>
            <a:off x="3291840" y="5257800"/>
            <a:ext cx="2743200" cy="12801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6943498" name="Rectangle 19"/>
          <p:cNvSpPr/>
          <p:nvPr/>
        </p:nvSpPr>
        <p:spPr bwMode="auto">
          <a:xfrm>
            <a:off x="3291840" y="525780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7860278" name="TextBox 20"/>
          <p:cNvSpPr txBox="1"/>
          <p:nvPr/>
        </p:nvSpPr>
        <p:spPr bwMode="auto">
          <a:xfrm>
            <a:off x="3401568" y="537667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3B82F6"/>
                </a:solidFill>
              </a:rPr>
              <a:t>Documentação viva</a:t>
            </a:r>
            <a:endParaRPr/>
          </a:p>
        </p:txBody>
      </p:sp>
      <p:sp>
        <p:nvSpPr>
          <p:cNvPr id="340796911" name="TextBox 21"/>
          <p:cNvSpPr txBox="1"/>
          <p:nvPr/>
        </p:nvSpPr>
        <p:spPr bwMode="auto">
          <a:xfrm>
            <a:off x="3401568" y="5715000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Testes são a especificação</a:t>
            </a:r>
            <a:endParaRPr/>
          </a:p>
        </p:txBody>
      </p:sp>
      <p:sp>
        <p:nvSpPr>
          <p:cNvPr id="1234278824" name="Rectangle 22"/>
          <p:cNvSpPr/>
          <p:nvPr/>
        </p:nvSpPr>
        <p:spPr bwMode="auto">
          <a:xfrm>
            <a:off x="6217920" y="5257800"/>
            <a:ext cx="2743200" cy="12801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6953351" name="Rectangle 23"/>
          <p:cNvSpPr/>
          <p:nvPr/>
        </p:nvSpPr>
        <p:spPr bwMode="auto">
          <a:xfrm>
            <a:off x="6217920" y="5257800"/>
            <a:ext cx="27432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6703644" name="TextBox 24"/>
          <p:cNvSpPr txBox="1"/>
          <p:nvPr/>
        </p:nvSpPr>
        <p:spPr bwMode="auto">
          <a:xfrm>
            <a:off x="6327648" y="537667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22C55E"/>
                </a:solidFill>
              </a:rPr>
              <a:t>E2E automático</a:t>
            </a:r>
            <a:endParaRPr/>
          </a:p>
        </p:txBody>
      </p:sp>
      <p:sp>
        <p:nvSpPr>
          <p:cNvPr id="675515088" name="TextBox 25"/>
          <p:cNvSpPr txBox="1"/>
          <p:nvPr/>
        </p:nvSpPr>
        <p:spPr bwMode="auto">
          <a:xfrm>
            <a:off x="6327648" y="5715000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Playwright executa os cenários no browser</a:t>
            </a:r>
            <a:endParaRPr/>
          </a:p>
        </p:txBody>
      </p:sp>
      <p:sp>
        <p:nvSpPr>
          <p:cNvPr id="1069623863" name="Rectangle 26"/>
          <p:cNvSpPr/>
          <p:nvPr/>
        </p:nvSpPr>
        <p:spPr bwMode="auto">
          <a:xfrm>
            <a:off x="9144000" y="5257800"/>
            <a:ext cx="2743200" cy="12801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552529" name="Rectangle 27"/>
          <p:cNvSpPr/>
          <p:nvPr/>
        </p:nvSpPr>
        <p:spPr bwMode="auto">
          <a:xfrm>
            <a:off x="9144000" y="525780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6282074" name="TextBox 28"/>
          <p:cNvSpPr txBox="1"/>
          <p:nvPr/>
        </p:nvSpPr>
        <p:spPr bwMode="auto">
          <a:xfrm>
            <a:off x="9253728" y="5376672"/>
            <a:ext cx="2523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F59E0B"/>
                </a:solidFill>
              </a:rPr>
              <a:t>Regressão segura</a:t>
            </a:r>
            <a:endParaRPr/>
          </a:p>
        </p:txBody>
      </p:sp>
      <p:sp>
        <p:nvSpPr>
          <p:cNvPr id="1965586226" name="TextBox 29"/>
          <p:cNvSpPr txBox="1"/>
          <p:nvPr/>
        </p:nvSpPr>
        <p:spPr bwMode="auto">
          <a:xfrm>
            <a:off x="9253728" y="5715000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Mudanças detectadas imediatamente</a:t>
            </a:r>
            <a:endParaRPr/>
          </a:p>
        </p:txBody>
      </p:sp>
      <p:sp>
        <p:nvSpPr>
          <p:cNvPr id="1164231409" name="TextBox 30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301216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0233561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6303728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06 · Microserviços Serverless</a:t>
            </a:r>
            <a:endParaRPr/>
          </a:p>
        </p:txBody>
      </p:sp>
      <p:sp>
        <p:nvSpPr>
          <p:cNvPr id="1112093166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Funções independentes com responsabilidade única</a:t>
            </a:r>
            <a:endParaRPr/>
          </a:p>
        </p:txBody>
      </p:sp>
      <p:sp>
        <p:nvSpPr>
          <p:cNvPr id="679854099" name="Rectangle 5"/>
          <p:cNvSpPr/>
          <p:nvPr/>
        </p:nvSpPr>
        <p:spPr bwMode="auto">
          <a:xfrm>
            <a:off x="274320" y="1371600"/>
            <a:ext cx="5669280" cy="117043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4050949" name="Rectangle 6"/>
          <p:cNvSpPr/>
          <p:nvPr/>
        </p:nvSpPr>
        <p:spPr bwMode="auto">
          <a:xfrm>
            <a:off x="274320" y="1371600"/>
            <a:ext cx="73152" cy="1170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9939220" name="TextBox 7"/>
          <p:cNvSpPr txBox="1"/>
          <p:nvPr/>
        </p:nvSpPr>
        <p:spPr bwMode="auto">
          <a:xfrm>
            <a:off x="438912" y="14447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3B82F6"/>
                </a:solidFill>
              </a:rPr>
              <a:t>api/auth/login.js</a:t>
            </a:r>
            <a:endParaRPr/>
          </a:p>
        </p:txBody>
      </p:sp>
      <p:sp>
        <p:nvSpPr>
          <p:cNvPr id="215211132" name="TextBox 8"/>
          <p:cNvSpPr txBox="1"/>
          <p:nvPr/>
        </p:nvSpPr>
        <p:spPr bwMode="auto">
          <a:xfrm>
            <a:off x="438912" y="17556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Argon2+Pepper verify</a:t>
            </a:r>
            <a:endParaRPr/>
          </a:p>
        </p:txBody>
      </p:sp>
      <p:sp>
        <p:nvSpPr>
          <p:cNvPr id="1177147309" name="TextBox 9"/>
          <p:cNvSpPr txBox="1"/>
          <p:nvPr/>
        </p:nvSpPr>
        <p:spPr bwMode="auto">
          <a:xfrm>
            <a:off x="438912" y="20025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Migração SHA-256 → Argon2</a:t>
            </a:r>
            <a:endParaRPr/>
          </a:p>
        </p:txBody>
      </p:sp>
      <p:sp>
        <p:nvSpPr>
          <p:cNvPr id="2141953199" name="TextBox 10"/>
          <p:cNvSpPr txBox="1"/>
          <p:nvPr/>
        </p:nvSpPr>
        <p:spPr bwMode="auto">
          <a:xfrm>
            <a:off x="438912" y="22494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Rate limiting (Vercel KV)</a:t>
            </a:r>
            <a:endParaRPr/>
          </a:p>
        </p:txBody>
      </p:sp>
      <p:sp>
        <p:nvSpPr>
          <p:cNvPr id="2083333111" name="TextBox 11"/>
          <p:cNvSpPr txBox="1"/>
          <p:nvPr/>
        </p:nvSpPr>
        <p:spPr bwMode="auto">
          <a:xfrm>
            <a:off x="438912" y="24963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Set HttpOnly Cookie</a:t>
            </a:r>
            <a:endParaRPr/>
          </a:p>
        </p:txBody>
      </p:sp>
      <p:sp>
        <p:nvSpPr>
          <p:cNvPr id="201136946" name="Rectangle 12"/>
          <p:cNvSpPr/>
          <p:nvPr/>
        </p:nvSpPr>
        <p:spPr bwMode="auto">
          <a:xfrm>
            <a:off x="274320" y="2670048"/>
            <a:ext cx="5669280" cy="117043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6265252" name="Rectangle 13"/>
          <p:cNvSpPr/>
          <p:nvPr/>
        </p:nvSpPr>
        <p:spPr bwMode="auto">
          <a:xfrm>
            <a:off x="274320" y="2670048"/>
            <a:ext cx="73152" cy="1170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8340734" name="TextBox 14"/>
          <p:cNvSpPr txBox="1"/>
          <p:nvPr/>
        </p:nvSpPr>
        <p:spPr bwMode="auto">
          <a:xfrm>
            <a:off x="438912" y="27432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22C55E"/>
                </a:solidFill>
              </a:rPr>
              <a:t>api/auth/register.js</a:t>
            </a:r>
            <a:endParaRPr/>
          </a:p>
        </p:txBody>
      </p:sp>
      <p:sp>
        <p:nvSpPr>
          <p:cNvPr id="223480931" name="TextBox 15"/>
          <p:cNvSpPr txBox="1"/>
          <p:nvPr/>
        </p:nvSpPr>
        <p:spPr bwMode="auto">
          <a:xfrm>
            <a:off x="438912" y="30540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Hash Argon2 da senha</a:t>
            </a:r>
            <a:endParaRPr/>
          </a:p>
        </p:txBody>
      </p:sp>
      <p:sp>
        <p:nvSpPr>
          <p:cNvPr id="1741016230" name="TextBox 16"/>
          <p:cNvSpPr txBox="1"/>
          <p:nvPr/>
        </p:nvSpPr>
        <p:spPr bwMode="auto">
          <a:xfrm>
            <a:off x="438912" y="330098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Criação de organização</a:t>
            </a:r>
            <a:endParaRPr/>
          </a:p>
        </p:txBody>
      </p:sp>
      <p:sp>
        <p:nvSpPr>
          <p:cNvPr id="1530915900" name="TextBox 17"/>
          <p:cNvSpPr txBox="1"/>
          <p:nvPr/>
        </p:nvSpPr>
        <p:spPr bwMode="auto">
          <a:xfrm>
            <a:off x="438912" y="35478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Status inicial PENDING</a:t>
            </a:r>
            <a:endParaRPr/>
          </a:p>
        </p:txBody>
      </p:sp>
      <p:sp>
        <p:nvSpPr>
          <p:cNvPr id="1950660477" name="Rectangle 18"/>
          <p:cNvSpPr/>
          <p:nvPr/>
        </p:nvSpPr>
        <p:spPr bwMode="auto">
          <a:xfrm>
            <a:off x="274320" y="3968496"/>
            <a:ext cx="5669280" cy="117043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7736616" name="Rectangle 19"/>
          <p:cNvSpPr/>
          <p:nvPr/>
        </p:nvSpPr>
        <p:spPr bwMode="auto">
          <a:xfrm>
            <a:off x="274320" y="3968496"/>
            <a:ext cx="73152" cy="1170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1550988" name="TextBox 20"/>
          <p:cNvSpPr txBox="1"/>
          <p:nvPr/>
        </p:nvSpPr>
        <p:spPr bwMode="auto">
          <a:xfrm>
            <a:off x="438912" y="404164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06B6D4"/>
                </a:solidFill>
              </a:rPr>
              <a:t>api/auth/me.js</a:t>
            </a:r>
            <a:endParaRPr/>
          </a:p>
        </p:txBody>
      </p:sp>
      <p:sp>
        <p:nvSpPr>
          <p:cNvPr id="1254235205" name="TextBox 21"/>
          <p:cNvSpPr txBox="1"/>
          <p:nvPr/>
        </p:nvSpPr>
        <p:spPr bwMode="auto">
          <a:xfrm>
            <a:off x="438912" y="43525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Valida cookie HMAC</a:t>
            </a:r>
            <a:endParaRPr/>
          </a:p>
        </p:txBody>
      </p:sp>
      <p:sp>
        <p:nvSpPr>
          <p:cNvPr id="254456107" name="TextBox 22"/>
          <p:cNvSpPr txBox="1"/>
          <p:nvPr/>
        </p:nvSpPr>
        <p:spPr bwMode="auto">
          <a:xfrm>
            <a:off x="438912" y="459943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Verifica expiração (24h)</a:t>
            </a:r>
            <a:endParaRPr/>
          </a:p>
        </p:txBody>
      </p:sp>
      <p:sp>
        <p:nvSpPr>
          <p:cNvPr id="1073501120" name="TextBox 23"/>
          <p:cNvSpPr txBox="1"/>
          <p:nvPr/>
        </p:nvSpPr>
        <p:spPr bwMode="auto">
          <a:xfrm>
            <a:off x="438912" y="48463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Retorna dados do usuário</a:t>
            </a:r>
            <a:endParaRPr/>
          </a:p>
        </p:txBody>
      </p:sp>
      <p:sp>
        <p:nvSpPr>
          <p:cNvPr id="471355751" name="Rectangle 24"/>
          <p:cNvSpPr/>
          <p:nvPr/>
        </p:nvSpPr>
        <p:spPr bwMode="auto">
          <a:xfrm>
            <a:off x="274320" y="5266944"/>
            <a:ext cx="5669280" cy="117043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7716838" name="Rectangle 25"/>
          <p:cNvSpPr/>
          <p:nvPr/>
        </p:nvSpPr>
        <p:spPr bwMode="auto">
          <a:xfrm>
            <a:off x="274320" y="5266944"/>
            <a:ext cx="73152" cy="1170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9471004" name="TextBox 26"/>
          <p:cNvSpPr txBox="1"/>
          <p:nvPr/>
        </p:nvSpPr>
        <p:spPr bwMode="auto">
          <a:xfrm>
            <a:off x="438912" y="53400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F4444"/>
                </a:solidFill>
              </a:rPr>
              <a:t>api/auth/logout.js</a:t>
            </a:r>
            <a:endParaRPr/>
          </a:p>
        </p:txBody>
      </p:sp>
      <p:sp>
        <p:nvSpPr>
          <p:cNvPr id="1436355963" name="TextBox 27"/>
          <p:cNvSpPr txBox="1"/>
          <p:nvPr/>
        </p:nvSpPr>
        <p:spPr bwMode="auto">
          <a:xfrm>
            <a:off x="438912" y="56509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Limpa cookie HttpOnly</a:t>
            </a:r>
            <a:endParaRPr/>
          </a:p>
        </p:txBody>
      </p:sp>
      <p:sp>
        <p:nvSpPr>
          <p:cNvPr id="1673339799" name="TextBox 28"/>
          <p:cNvSpPr txBox="1"/>
          <p:nvPr/>
        </p:nvSpPr>
        <p:spPr bwMode="auto">
          <a:xfrm>
            <a:off x="438912" y="589787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Max-Age=0 no servidor</a:t>
            </a:r>
            <a:endParaRPr/>
          </a:p>
        </p:txBody>
      </p:sp>
      <p:sp>
        <p:nvSpPr>
          <p:cNvPr id="1272713156" name="Rectangle 29"/>
          <p:cNvSpPr/>
          <p:nvPr/>
        </p:nvSpPr>
        <p:spPr bwMode="auto">
          <a:xfrm>
            <a:off x="6263640" y="1371600"/>
            <a:ext cx="5669280" cy="117043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4094166" name="Rectangle 30"/>
          <p:cNvSpPr/>
          <p:nvPr/>
        </p:nvSpPr>
        <p:spPr bwMode="auto">
          <a:xfrm>
            <a:off x="6263640" y="1371600"/>
            <a:ext cx="73152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2536600" name="TextBox 31"/>
          <p:cNvSpPr txBox="1"/>
          <p:nvPr/>
        </p:nvSpPr>
        <p:spPr bwMode="auto">
          <a:xfrm>
            <a:off x="6428231" y="14447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F59E0B"/>
                </a:solidFill>
              </a:rPr>
              <a:t>api/auth/forgot-password.js</a:t>
            </a:r>
            <a:endParaRPr/>
          </a:p>
        </p:txBody>
      </p:sp>
      <p:sp>
        <p:nvSpPr>
          <p:cNvPr id="82805272" name="TextBox 32"/>
          <p:cNvSpPr txBox="1"/>
          <p:nvPr/>
        </p:nvSpPr>
        <p:spPr bwMode="auto">
          <a:xfrm>
            <a:off x="6428231" y="17556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Token HMAC-SHA256</a:t>
            </a:r>
            <a:endParaRPr/>
          </a:p>
        </p:txBody>
      </p:sp>
      <p:sp>
        <p:nvSpPr>
          <p:cNvPr id="1582645335" name="TextBox 33"/>
          <p:cNvSpPr txBox="1"/>
          <p:nvPr/>
        </p:nvSpPr>
        <p:spPr bwMode="auto">
          <a:xfrm>
            <a:off x="6428231" y="20025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Expiração 1 hora</a:t>
            </a:r>
            <a:endParaRPr/>
          </a:p>
        </p:txBody>
      </p:sp>
      <p:sp>
        <p:nvSpPr>
          <p:cNvPr id="1932084352" name="TextBox 34"/>
          <p:cNvSpPr txBox="1"/>
          <p:nvPr/>
        </p:nvSpPr>
        <p:spPr bwMode="auto">
          <a:xfrm>
            <a:off x="6428231" y="22494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Envio via Resend API</a:t>
            </a:r>
            <a:endParaRPr/>
          </a:p>
        </p:txBody>
      </p:sp>
      <p:sp>
        <p:nvSpPr>
          <p:cNvPr id="618410808" name="Rectangle 35"/>
          <p:cNvSpPr/>
          <p:nvPr/>
        </p:nvSpPr>
        <p:spPr bwMode="auto">
          <a:xfrm>
            <a:off x="6263640" y="2670048"/>
            <a:ext cx="5669280" cy="117043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0333489" name="Rectangle 36"/>
          <p:cNvSpPr/>
          <p:nvPr/>
        </p:nvSpPr>
        <p:spPr bwMode="auto">
          <a:xfrm>
            <a:off x="6263640" y="2670048"/>
            <a:ext cx="73152" cy="1170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190900" name="TextBox 37"/>
          <p:cNvSpPr txBox="1"/>
          <p:nvPr/>
        </p:nvSpPr>
        <p:spPr bwMode="auto">
          <a:xfrm>
            <a:off x="6428231" y="27432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8B5CF6"/>
                </a:solidFill>
              </a:rPr>
              <a:t>api/auth/reset-password.js</a:t>
            </a:r>
            <a:endParaRPr/>
          </a:p>
        </p:txBody>
      </p:sp>
      <p:sp>
        <p:nvSpPr>
          <p:cNvPr id="67012722" name="TextBox 38"/>
          <p:cNvSpPr txBox="1"/>
          <p:nvPr/>
        </p:nvSpPr>
        <p:spPr bwMode="auto">
          <a:xfrm>
            <a:off x="6428231" y="305409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Valida token + timestamp</a:t>
            </a:r>
            <a:endParaRPr/>
          </a:p>
        </p:txBody>
      </p:sp>
      <p:sp>
        <p:nvSpPr>
          <p:cNvPr id="1437056023" name="TextBox 39"/>
          <p:cNvSpPr txBox="1"/>
          <p:nvPr/>
        </p:nvSpPr>
        <p:spPr bwMode="auto">
          <a:xfrm>
            <a:off x="6428231" y="330098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Novo hash Argon2</a:t>
            </a:r>
            <a:endParaRPr/>
          </a:p>
        </p:txBody>
      </p:sp>
      <p:sp>
        <p:nvSpPr>
          <p:cNvPr id="1634234824" name="TextBox 40"/>
          <p:cNvSpPr txBox="1"/>
          <p:nvPr/>
        </p:nvSpPr>
        <p:spPr bwMode="auto">
          <a:xfrm>
            <a:off x="6428231" y="35478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Nunca revela se email existe</a:t>
            </a:r>
            <a:endParaRPr/>
          </a:p>
        </p:txBody>
      </p:sp>
      <p:sp>
        <p:nvSpPr>
          <p:cNvPr id="1698839345" name="Rectangle 41"/>
          <p:cNvSpPr/>
          <p:nvPr/>
        </p:nvSpPr>
        <p:spPr bwMode="auto">
          <a:xfrm>
            <a:off x="6263640" y="3968496"/>
            <a:ext cx="5669280" cy="117043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3403264" name="Rectangle 42"/>
          <p:cNvSpPr/>
          <p:nvPr/>
        </p:nvSpPr>
        <p:spPr bwMode="auto">
          <a:xfrm>
            <a:off x="6263640" y="3968496"/>
            <a:ext cx="73152" cy="1170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612019" name="TextBox 43"/>
          <p:cNvSpPr txBox="1"/>
          <p:nvPr/>
        </p:nvSpPr>
        <p:spPr bwMode="auto">
          <a:xfrm>
            <a:off x="6428231" y="404164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F97316"/>
                </a:solidFill>
              </a:rPr>
              <a:t>api/notifications/deadline.js</a:t>
            </a:r>
            <a:endParaRPr/>
          </a:p>
        </p:txBody>
      </p:sp>
      <p:sp>
        <p:nvSpPr>
          <p:cNvPr id="404166960" name="TextBox 44"/>
          <p:cNvSpPr txBox="1"/>
          <p:nvPr/>
        </p:nvSpPr>
        <p:spPr bwMode="auto">
          <a:xfrm>
            <a:off x="6428231" y="43525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Cron diário 09h BRT</a:t>
            </a:r>
            <a:endParaRPr/>
          </a:p>
        </p:txBody>
      </p:sp>
      <p:sp>
        <p:nvSpPr>
          <p:cNvPr id="2016702109" name="TextBox 45"/>
          <p:cNvSpPr txBox="1"/>
          <p:nvPr/>
        </p:nvSpPr>
        <p:spPr bwMode="auto">
          <a:xfrm>
            <a:off x="6428231" y="459943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Filtra prazos 3 dias</a:t>
            </a:r>
            <a:endParaRPr/>
          </a:p>
        </p:txBody>
      </p:sp>
      <p:sp>
        <p:nvSpPr>
          <p:cNvPr id="134504748" name="TextBox 46"/>
          <p:cNvSpPr txBox="1"/>
          <p:nvPr/>
        </p:nvSpPr>
        <p:spPr bwMode="auto">
          <a:xfrm>
            <a:off x="6428231" y="48463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Email personalizado Resend</a:t>
            </a:r>
            <a:endParaRPr/>
          </a:p>
        </p:txBody>
      </p:sp>
      <p:sp>
        <p:nvSpPr>
          <p:cNvPr id="1791174749" name="Rectangle 47"/>
          <p:cNvSpPr/>
          <p:nvPr/>
        </p:nvSpPr>
        <p:spPr bwMode="auto">
          <a:xfrm>
            <a:off x="6263640" y="5266944"/>
            <a:ext cx="5669280" cy="117043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7472823" name="Rectangle 48"/>
          <p:cNvSpPr/>
          <p:nvPr/>
        </p:nvSpPr>
        <p:spPr bwMode="auto">
          <a:xfrm>
            <a:off x="6263640" y="5266944"/>
            <a:ext cx="73152" cy="1170432"/>
          </a:xfrm>
          <a:prstGeom prst="rect">
            <a:avLst/>
          </a:prstGeom>
          <a:solidFill>
            <a:srgbClr val="8A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3138414" name="TextBox 49"/>
          <p:cNvSpPr txBox="1"/>
          <p:nvPr/>
        </p:nvSpPr>
        <p:spPr bwMode="auto">
          <a:xfrm>
            <a:off x="6428231" y="53400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8A9BB0"/>
                </a:solidFill>
              </a:rPr>
              <a:t>api/services/*.js</a:t>
            </a:r>
            <a:endParaRPr/>
          </a:p>
        </p:txBody>
      </p:sp>
      <p:sp>
        <p:nvSpPr>
          <p:cNvPr id="1990921378" name="TextBox 50"/>
          <p:cNvSpPr txBox="1"/>
          <p:nvPr/>
        </p:nvSpPr>
        <p:spPr bwMode="auto">
          <a:xfrm>
            <a:off x="6428231" y="56509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Proxy autenticado ORDS</a:t>
            </a:r>
            <a:endParaRPr/>
          </a:p>
        </p:txBody>
      </p:sp>
      <p:sp>
        <p:nvSpPr>
          <p:cNvPr id="1956138468" name="TextBox 51"/>
          <p:cNvSpPr txBox="1"/>
          <p:nvPr/>
        </p:nvSpPr>
        <p:spPr bwMode="auto">
          <a:xfrm>
            <a:off x="6428231" y="5897879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Valida x-s4-internal-key</a:t>
            </a:r>
            <a:endParaRPr/>
          </a:p>
        </p:txBody>
      </p:sp>
      <p:sp>
        <p:nvSpPr>
          <p:cNvPr id="18641026" name="TextBox 52"/>
          <p:cNvSpPr txBox="1"/>
          <p:nvPr/>
        </p:nvSpPr>
        <p:spPr bwMode="auto">
          <a:xfrm>
            <a:off x="6428231" y="6144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• Repassa para Oracle ATP</a:t>
            </a:r>
            <a:endParaRPr/>
          </a:p>
        </p:txBody>
      </p:sp>
      <p:sp>
        <p:nvSpPr>
          <p:cNvPr id="1751956328" name="TextBox 53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228853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0865014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5003233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06 · Microserviços — Isolamento de Falhas</a:t>
            </a:r>
            <a:endParaRPr/>
          </a:p>
        </p:txBody>
      </p:sp>
      <p:sp>
        <p:nvSpPr>
          <p:cNvPr id="792195283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Cada serviço falha de forma independente</a:t>
            </a:r>
            <a:endParaRPr/>
          </a:p>
        </p:txBody>
      </p:sp>
      <p:sp>
        <p:nvSpPr>
          <p:cNvPr id="1318809805" name="TextBox 5"/>
          <p:cNvSpPr txBox="1"/>
          <p:nvPr/>
        </p:nvSpPr>
        <p:spPr bwMode="auto">
          <a:xfrm>
            <a:off x="457200" y="13258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E2E8F0"/>
                </a:solidFill>
              </a:rPr>
              <a:t>Princípio fundamental: nenhuma função depende das outras para existir.</a:t>
            </a:r>
            <a:endParaRPr/>
          </a:p>
        </p:txBody>
      </p:sp>
      <p:sp>
        <p:nvSpPr>
          <p:cNvPr id="1269464192" name="Rectangle 6"/>
          <p:cNvSpPr/>
          <p:nvPr/>
        </p:nvSpPr>
        <p:spPr bwMode="auto">
          <a:xfrm>
            <a:off x="365760" y="1920240"/>
            <a:ext cx="3657600" cy="43891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6258810" name="Rectangle 7"/>
          <p:cNvSpPr/>
          <p:nvPr/>
        </p:nvSpPr>
        <p:spPr bwMode="auto">
          <a:xfrm>
            <a:off x="365760" y="1920240"/>
            <a:ext cx="36576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1706442" name="TextBox 8"/>
          <p:cNvSpPr txBox="1"/>
          <p:nvPr/>
        </p:nvSpPr>
        <p:spPr bwMode="auto">
          <a:xfrm>
            <a:off x="502920" y="2057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EF4444"/>
                </a:solidFill>
              </a:rPr>
              <a:t>Resend (email) indisponível</a:t>
            </a:r>
            <a:endParaRPr/>
          </a:p>
        </p:txBody>
      </p:sp>
      <p:sp>
        <p:nvSpPr>
          <p:cNvPr id="6148716" name="TextBox 9"/>
          <p:cNvSpPr txBox="1"/>
          <p:nvPr/>
        </p:nvSpPr>
        <p:spPr bwMode="auto">
          <a:xfrm>
            <a:off x="502920" y="2651760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• Login continua funcionando normalmente</a:t>
            </a:r>
            <a:endParaRPr/>
          </a:p>
        </p:txBody>
      </p:sp>
      <p:sp>
        <p:nvSpPr>
          <p:cNvPr id="949367532" name="TextBox 10"/>
          <p:cNvSpPr txBox="1"/>
          <p:nvPr/>
        </p:nvSpPr>
        <p:spPr bwMode="auto">
          <a:xfrm>
            <a:off x="502920" y="3493008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• Recuperação de senha falha com HTTP 500</a:t>
            </a:r>
            <a:endParaRPr/>
          </a:p>
        </p:txBody>
      </p:sp>
      <p:sp>
        <p:nvSpPr>
          <p:cNvPr id="549887323" name="TextBox 11"/>
          <p:cNvSpPr txBox="1"/>
          <p:nvPr/>
        </p:nvSpPr>
        <p:spPr bwMode="auto">
          <a:xfrm>
            <a:off x="502920" y="4334256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• Notificações de prazo não são enviadas</a:t>
            </a:r>
            <a:endParaRPr/>
          </a:p>
        </p:txBody>
      </p:sp>
      <p:sp>
        <p:nvSpPr>
          <p:cNvPr id="1523667821" name="TextBox 12"/>
          <p:cNvSpPr txBox="1"/>
          <p:nvPr/>
        </p:nvSpPr>
        <p:spPr bwMode="auto">
          <a:xfrm>
            <a:off x="502920" y="5175504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• Todos os outros endpoints operam normalmente</a:t>
            </a:r>
            <a:endParaRPr/>
          </a:p>
        </p:txBody>
      </p:sp>
      <p:sp>
        <p:nvSpPr>
          <p:cNvPr id="315263415" name="Rectangle 13"/>
          <p:cNvSpPr/>
          <p:nvPr/>
        </p:nvSpPr>
        <p:spPr bwMode="auto">
          <a:xfrm>
            <a:off x="4251960" y="1920240"/>
            <a:ext cx="3657600" cy="43891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5267157" name="Rectangle 14"/>
          <p:cNvSpPr/>
          <p:nvPr/>
        </p:nvSpPr>
        <p:spPr bwMode="auto">
          <a:xfrm>
            <a:off x="4251960" y="192024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7584929" name="TextBox 15"/>
          <p:cNvSpPr txBox="1"/>
          <p:nvPr/>
        </p:nvSpPr>
        <p:spPr bwMode="auto">
          <a:xfrm>
            <a:off x="4389120" y="2057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59E0B"/>
                </a:solidFill>
              </a:rPr>
              <a:t>Vercel KV (rate limiting) indisponível</a:t>
            </a:r>
            <a:endParaRPr/>
          </a:p>
        </p:txBody>
      </p:sp>
      <p:sp>
        <p:nvSpPr>
          <p:cNvPr id="1052175486" name="TextBox 16"/>
          <p:cNvSpPr txBox="1"/>
          <p:nvPr/>
        </p:nvSpPr>
        <p:spPr bwMode="auto">
          <a:xfrm>
            <a:off x="4389120" y="2651760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• Fallback automático para Map em memória</a:t>
            </a:r>
            <a:endParaRPr/>
          </a:p>
        </p:txBody>
      </p:sp>
      <p:sp>
        <p:nvSpPr>
          <p:cNvPr id="525184716" name="TextBox 17"/>
          <p:cNvSpPr txBox="1"/>
          <p:nvPr/>
        </p:nvSpPr>
        <p:spPr bwMode="auto">
          <a:xfrm>
            <a:off x="4389120" y="3493008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• Rate limiting ainda funciona por instância</a:t>
            </a:r>
            <a:endParaRPr/>
          </a:p>
        </p:txBody>
      </p:sp>
      <p:sp>
        <p:nvSpPr>
          <p:cNvPr id="2043508482" name="TextBox 18"/>
          <p:cNvSpPr txBox="1"/>
          <p:nvPr/>
        </p:nvSpPr>
        <p:spPr bwMode="auto">
          <a:xfrm>
            <a:off x="4389120" y="4334256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• Login nunca retorna erro por causa do KV</a:t>
            </a:r>
            <a:endParaRPr/>
          </a:p>
        </p:txBody>
      </p:sp>
      <p:sp>
        <p:nvSpPr>
          <p:cNvPr id="180643407" name="TextBox 19"/>
          <p:cNvSpPr txBox="1"/>
          <p:nvPr/>
        </p:nvSpPr>
        <p:spPr bwMode="auto">
          <a:xfrm>
            <a:off x="4389120" y="5175504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• Degradação graciosa sem impacto ao usuário</a:t>
            </a:r>
            <a:endParaRPr/>
          </a:p>
        </p:txBody>
      </p:sp>
      <p:sp>
        <p:nvSpPr>
          <p:cNvPr id="671975710" name="Rectangle 20"/>
          <p:cNvSpPr/>
          <p:nvPr/>
        </p:nvSpPr>
        <p:spPr bwMode="auto">
          <a:xfrm>
            <a:off x="8138160" y="1920240"/>
            <a:ext cx="3657600" cy="43891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0821957" name="Rectangle 21"/>
          <p:cNvSpPr/>
          <p:nvPr/>
        </p:nvSpPr>
        <p:spPr bwMode="auto">
          <a:xfrm>
            <a:off x="8138160" y="1920240"/>
            <a:ext cx="36576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5882625" name="TextBox 22"/>
          <p:cNvSpPr txBox="1"/>
          <p:nvPr/>
        </p:nvSpPr>
        <p:spPr bwMode="auto">
          <a:xfrm>
            <a:off x="8275320" y="2057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3B82F6"/>
                </a:solidFill>
              </a:rPr>
              <a:t>Oracle ORDS retorna timeout</a:t>
            </a:r>
            <a:endParaRPr/>
          </a:p>
        </p:txBody>
      </p:sp>
      <p:sp>
        <p:nvSpPr>
          <p:cNvPr id="761964533" name="TextBox 23"/>
          <p:cNvSpPr txBox="1"/>
          <p:nvPr/>
        </p:nvSpPr>
        <p:spPr bwMode="auto">
          <a:xfrm>
            <a:off x="8275320" y="2651760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• Vercel Function retorna HTTP 500 ao cliente</a:t>
            </a:r>
            <a:endParaRPr/>
          </a:p>
        </p:txBody>
      </p:sp>
      <p:sp>
        <p:nvSpPr>
          <p:cNvPr id="355171270" name="TextBox 24"/>
          <p:cNvSpPr txBox="1"/>
          <p:nvPr/>
        </p:nvSpPr>
        <p:spPr bwMode="auto">
          <a:xfrm>
            <a:off x="8275320" y="3493008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• UI exibe 'Tentar novamente' com botão de retry</a:t>
            </a:r>
            <a:endParaRPr/>
          </a:p>
        </p:txBody>
      </p:sp>
      <p:sp>
        <p:nvSpPr>
          <p:cNvPr id="190026731" name="TextBox 25"/>
          <p:cNvSpPr txBox="1"/>
          <p:nvPr/>
        </p:nvSpPr>
        <p:spPr bwMode="auto">
          <a:xfrm>
            <a:off x="8275320" y="4334256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• Sentry captura o erro e alerta o time</a:t>
            </a:r>
            <a:endParaRPr/>
          </a:p>
        </p:txBody>
      </p:sp>
      <p:sp>
        <p:nvSpPr>
          <p:cNvPr id="125623579" name="TextBox 26"/>
          <p:cNvSpPr txBox="1"/>
          <p:nvPr/>
        </p:nvSpPr>
        <p:spPr bwMode="auto">
          <a:xfrm>
            <a:off x="8275320" y="5175504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• Sessão do usuário não é afetada</a:t>
            </a:r>
            <a:endParaRPr/>
          </a:p>
        </p:txBody>
      </p:sp>
      <p:sp>
        <p:nvSpPr>
          <p:cNvPr id="1600049793" name="TextBox 27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810515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8741435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4130812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07 · Segurança em Camadas</a:t>
            </a:r>
            <a:endParaRPr/>
          </a:p>
        </p:txBody>
      </p:sp>
      <p:sp>
        <p:nvSpPr>
          <p:cNvPr id="1010064715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Argon2id + Pepper — Padrão ouro em hashing de senha</a:t>
            </a:r>
            <a:endParaRPr/>
          </a:p>
        </p:txBody>
      </p:sp>
      <p:sp>
        <p:nvSpPr>
          <p:cNvPr id="1227347135" name="TextBox 5"/>
          <p:cNvSpPr txBox="1"/>
          <p:nvPr/>
        </p:nvSpPr>
        <p:spPr bwMode="auto">
          <a:xfrm>
            <a:off x="457200" y="13258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FFFFFF"/>
                </a:solidFill>
              </a:rPr>
              <a:t>Fluxo de armazenamento de senha</a:t>
            </a:r>
            <a:endParaRPr/>
          </a:p>
        </p:txBody>
      </p:sp>
      <p:sp>
        <p:nvSpPr>
          <p:cNvPr id="1245345893" name="Rectangle 6"/>
          <p:cNvSpPr/>
          <p:nvPr/>
        </p:nvSpPr>
        <p:spPr bwMode="auto">
          <a:xfrm>
            <a:off x="457200" y="1783080"/>
            <a:ext cx="2103120" cy="10058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5671449" name="Rectangle 7"/>
          <p:cNvSpPr/>
          <p:nvPr/>
        </p:nvSpPr>
        <p:spPr bwMode="auto">
          <a:xfrm>
            <a:off x="457200" y="1783080"/>
            <a:ext cx="21031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8221412" name="TextBox 8"/>
          <p:cNvSpPr txBox="1"/>
          <p:nvPr/>
        </p:nvSpPr>
        <p:spPr bwMode="auto">
          <a:xfrm>
            <a:off x="548640" y="192024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EF4444"/>
                </a:solidFill>
              </a:rPr>
              <a:t>1  Senha</a:t>
            </a:r>
            <a:br>
              <a:rPr sz="1200" b="1" i="0">
                <a:solidFill>
                  <a:srgbClr val="EF4444"/>
                </a:solidFill>
              </a:rPr>
            </a:br>
            <a:r>
              <a:rPr sz="1200" b="1" i="0">
                <a:solidFill>
                  <a:srgbClr val="EF4444"/>
                </a:solidFill>
              </a:rPr>
              <a:t>  do usuário</a:t>
            </a:r>
            <a:endParaRPr/>
          </a:p>
        </p:txBody>
      </p:sp>
      <p:sp>
        <p:nvSpPr>
          <p:cNvPr id="1064710988" name="TextBox 9"/>
          <p:cNvSpPr txBox="1"/>
          <p:nvPr/>
        </p:nvSpPr>
        <p:spPr bwMode="auto">
          <a:xfrm>
            <a:off x="260604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0" i="0">
                <a:solidFill>
                  <a:srgbClr val="8A9BB0"/>
                </a:solidFill>
              </a:rPr>
              <a:t>→</a:t>
            </a:r>
            <a:endParaRPr/>
          </a:p>
        </p:txBody>
      </p:sp>
      <p:sp>
        <p:nvSpPr>
          <p:cNvPr id="1792289878" name="Rectangle 10"/>
          <p:cNvSpPr/>
          <p:nvPr/>
        </p:nvSpPr>
        <p:spPr bwMode="auto">
          <a:xfrm>
            <a:off x="2743200" y="1783080"/>
            <a:ext cx="2103120" cy="10058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3285067" name="Rectangle 11"/>
          <p:cNvSpPr/>
          <p:nvPr/>
        </p:nvSpPr>
        <p:spPr bwMode="auto">
          <a:xfrm>
            <a:off x="2743200" y="1783080"/>
            <a:ext cx="21031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4061092" name="TextBox 12"/>
          <p:cNvSpPr txBox="1"/>
          <p:nvPr/>
        </p:nvSpPr>
        <p:spPr bwMode="auto">
          <a:xfrm>
            <a:off x="2834640" y="192024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59E0B"/>
                </a:solidFill>
              </a:rPr>
              <a:t>2  + Pepper</a:t>
            </a:r>
            <a:br>
              <a:rPr sz="1200" b="1" i="0">
                <a:solidFill>
                  <a:srgbClr val="F59E0B"/>
                </a:solidFill>
              </a:rPr>
            </a:br>
            <a:r>
              <a:rPr sz="1200" b="1" i="0">
                <a:solidFill>
                  <a:srgbClr val="F59E0B"/>
                </a:solidFill>
              </a:rPr>
              <a:t>  (servidor)</a:t>
            </a:r>
            <a:endParaRPr/>
          </a:p>
        </p:txBody>
      </p:sp>
      <p:sp>
        <p:nvSpPr>
          <p:cNvPr id="1220712893" name="TextBox 13"/>
          <p:cNvSpPr txBox="1"/>
          <p:nvPr/>
        </p:nvSpPr>
        <p:spPr bwMode="auto">
          <a:xfrm>
            <a:off x="4892039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0" i="0">
                <a:solidFill>
                  <a:srgbClr val="8A9BB0"/>
                </a:solidFill>
              </a:rPr>
              <a:t>→</a:t>
            </a:r>
            <a:endParaRPr/>
          </a:p>
        </p:txBody>
      </p:sp>
      <p:sp>
        <p:nvSpPr>
          <p:cNvPr id="506340727" name="Rectangle 14"/>
          <p:cNvSpPr/>
          <p:nvPr/>
        </p:nvSpPr>
        <p:spPr bwMode="auto">
          <a:xfrm>
            <a:off x="5029200" y="1783080"/>
            <a:ext cx="2103120" cy="10058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2605834" name="Rectangle 15"/>
          <p:cNvSpPr/>
          <p:nvPr/>
        </p:nvSpPr>
        <p:spPr bwMode="auto">
          <a:xfrm>
            <a:off x="5029200" y="1783080"/>
            <a:ext cx="21031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5725062" name="TextBox 16"/>
          <p:cNvSpPr txBox="1"/>
          <p:nvPr/>
        </p:nvSpPr>
        <p:spPr bwMode="auto">
          <a:xfrm>
            <a:off x="5120640" y="192024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22C55E"/>
                </a:solidFill>
              </a:rPr>
              <a:t>3  Argon2id</a:t>
            </a:r>
            <a:br>
              <a:rPr sz="1200" b="1" i="0">
                <a:solidFill>
                  <a:srgbClr val="22C55E"/>
                </a:solidFill>
              </a:rPr>
            </a:br>
            <a:r>
              <a:rPr sz="1200" b="1" i="0">
                <a:solidFill>
                  <a:srgbClr val="22C55E"/>
                </a:solidFill>
              </a:rPr>
              <a:t>  (slow hash)</a:t>
            </a:r>
            <a:endParaRPr/>
          </a:p>
        </p:txBody>
      </p:sp>
      <p:sp>
        <p:nvSpPr>
          <p:cNvPr id="391181195" name="TextBox 17"/>
          <p:cNvSpPr txBox="1"/>
          <p:nvPr/>
        </p:nvSpPr>
        <p:spPr bwMode="auto">
          <a:xfrm>
            <a:off x="7178039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0" i="0">
                <a:solidFill>
                  <a:srgbClr val="8A9BB0"/>
                </a:solidFill>
              </a:rPr>
              <a:t>→</a:t>
            </a:r>
            <a:endParaRPr/>
          </a:p>
        </p:txBody>
      </p:sp>
      <p:sp>
        <p:nvSpPr>
          <p:cNvPr id="400349992" name="Rectangle 18"/>
          <p:cNvSpPr/>
          <p:nvPr/>
        </p:nvSpPr>
        <p:spPr bwMode="auto">
          <a:xfrm>
            <a:off x="7315200" y="1783080"/>
            <a:ext cx="2103120" cy="10058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1509842" name="Rectangle 19"/>
          <p:cNvSpPr/>
          <p:nvPr/>
        </p:nvSpPr>
        <p:spPr bwMode="auto">
          <a:xfrm>
            <a:off x="7315200" y="1783080"/>
            <a:ext cx="21031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2768287" name="TextBox 20"/>
          <p:cNvSpPr txBox="1"/>
          <p:nvPr/>
        </p:nvSpPr>
        <p:spPr bwMode="auto">
          <a:xfrm>
            <a:off x="7406640" y="1920240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3B82F6"/>
                </a:solidFill>
              </a:rPr>
              <a:t>4  Hash</a:t>
            </a:r>
            <a:br>
              <a:rPr sz="1200" b="1" i="0">
                <a:solidFill>
                  <a:srgbClr val="3B82F6"/>
                </a:solidFill>
              </a:rPr>
            </a:br>
            <a:r>
              <a:rPr sz="1200" b="1" i="0">
                <a:solidFill>
                  <a:srgbClr val="3B82F6"/>
                </a:solidFill>
              </a:rPr>
              <a:t>  no banco</a:t>
            </a:r>
            <a:endParaRPr/>
          </a:p>
        </p:txBody>
      </p:sp>
      <p:sp>
        <p:nvSpPr>
          <p:cNvPr id="22947625" name="Rectangle 21"/>
          <p:cNvSpPr/>
          <p:nvPr/>
        </p:nvSpPr>
        <p:spPr bwMode="auto">
          <a:xfrm>
            <a:off x="457200" y="2926080"/>
            <a:ext cx="6858000" cy="2011680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983485" name="Rectangle 22"/>
          <p:cNvSpPr/>
          <p:nvPr/>
        </p:nvSpPr>
        <p:spPr bwMode="auto">
          <a:xfrm>
            <a:off x="457200" y="2926080"/>
            <a:ext cx="6858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8189642" name="TextBox 23"/>
          <p:cNvSpPr txBox="1"/>
          <p:nvPr/>
        </p:nvSpPr>
        <p:spPr bwMode="auto">
          <a:xfrm>
            <a:off x="621792" y="3017519"/>
            <a:ext cx="65836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// api/auth/login.js — verificação e migração automática de legado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if (isArgon2Hash(storedHash)) {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valid = await argon2Verify(storedHash, password + PEPPER)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} else {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// Legacy SHA-256 — verifica e migra na primeira entrada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valid = storedHash === sha256Legacy(password)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if (valid) {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const newHash = await argon2Hash(password + PEPPER)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  await updateUserHash(user.id, newHash)  // migração transparente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}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}</a:t>
            </a:r>
            <a:endParaRPr/>
          </a:p>
        </p:txBody>
      </p:sp>
      <p:sp>
        <p:nvSpPr>
          <p:cNvPr id="1870620333" name="Rectangle 24"/>
          <p:cNvSpPr/>
          <p:nvPr/>
        </p:nvSpPr>
        <p:spPr bwMode="auto">
          <a:xfrm>
            <a:off x="7589520" y="2926080"/>
            <a:ext cx="4297680" cy="20116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587027" name="TextBox 25"/>
          <p:cNvSpPr txBox="1"/>
          <p:nvPr/>
        </p:nvSpPr>
        <p:spPr bwMode="auto">
          <a:xfrm>
            <a:off x="7726679" y="3017519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EF4444"/>
                </a:solidFill>
              </a:rPr>
              <a:t>Por que Argon2id?</a:t>
            </a:r>
            <a:endParaRPr/>
          </a:p>
        </p:txBody>
      </p:sp>
      <p:sp>
        <p:nvSpPr>
          <p:cNvPr id="759706044" name="TextBox 26"/>
          <p:cNvSpPr txBox="1"/>
          <p:nvPr/>
        </p:nvSpPr>
        <p:spPr bwMode="auto">
          <a:xfrm>
            <a:off x="7726679" y="34290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✓  Vencedor do Password Hashing Competition</a:t>
            </a:r>
            <a:endParaRPr/>
          </a:p>
        </p:txBody>
      </p:sp>
      <p:sp>
        <p:nvSpPr>
          <p:cNvPr id="769490995" name="TextBox 27"/>
          <p:cNvSpPr txBox="1"/>
          <p:nvPr/>
        </p:nvSpPr>
        <p:spPr bwMode="auto">
          <a:xfrm>
            <a:off x="7726679" y="3675887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✓  Resistente a ataques de GPU e ASIC</a:t>
            </a:r>
            <a:endParaRPr/>
          </a:p>
        </p:txBody>
      </p:sp>
      <p:sp>
        <p:nvSpPr>
          <p:cNvPr id="1516812937" name="TextBox 28"/>
          <p:cNvSpPr txBox="1"/>
          <p:nvPr/>
        </p:nvSpPr>
        <p:spPr bwMode="auto">
          <a:xfrm>
            <a:off x="7726679" y="392277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✓  Ajuste de custo computacional</a:t>
            </a:r>
            <a:endParaRPr/>
          </a:p>
        </p:txBody>
      </p:sp>
      <p:sp>
        <p:nvSpPr>
          <p:cNvPr id="1885188466" name="TextBox 29"/>
          <p:cNvSpPr txBox="1"/>
          <p:nvPr/>
        </p:nvSpPr>
        <p:spPr bwMode="auto">
          <a:xfrm>
            <a:off x="7726679" y="41696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✓  Uso de memória configurável</a:t>
            </a:r>
            <a:endParaRPr/>
          </a:p>
        </p:txBody>
      </p:sp>
      <p:sp>
        <p:nvSpPr>
          <p:cNvPr id="742207333" name="TextBox 30"/>
          <p:cNvSpPr txBox="1"/>
          <p:nvPr/>
        </p:nvSpPr>
        <p:spPr bwMode="auto">
          <a:xfrm>
            <a:off x="7726679" y="441655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✓  Padrão recomendado pelo OWASP</a:t>
            </a:r>
            <a:endParaRPr/>
          </a:p>
        </p:txBody>
      </p:sp>
      <p:sp>
        <p:nvSpPr>
          <p:cNvPr id="109590339" name="TextBox 31"/>
          <p:cNvSpPr txBox="1"/>
          <p:nvPr/>
        </p:nvSpPr>
        <p:spPr bwMode="auto">
          <a:xfrm>
            <a:off x="7726679" y="466344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E2E8F0"/>
                </a:solidFill>
              </a:rPr>
              <a:t>✓  Pepper = inutiliza o banco sem a chave</a:t>
            </a:r>
            <a:endParaRPr/>
          </a:p>
        </p:txBody>
      </p:sp>
      <p:sp>
        <p:nvSpPr>
          <p:cNvPr id="418114669" name="TextBox 32"/>
          <p:cNvSpPr txBox="1"/>
          <p:nvPr/>
        </p:nvSpPr>
        <p:spPr bwMode="auto">
          <a:xfrm>
            <a:off x="457200" y="5074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FFFFFF"/>
                </a:solidFill>
              </a:rPr>
              <a:t>Demais Controles de Segurança</a:t>
            </a:r>
            <a:endParaRPr/>
          </a:p>
        </p:txBody>
      </p:sp>
      <p:sp>
        <p:nvSpPr>
          <p:cNvPr id="414263052" name="Rectangle 33"/>
          <p:cNvSpPr/>
          <p:nvPr/>
        </p:nvSpPr>
        <p:spPr bwMode="auto">
          <a:xfrm>
            <a:off x="365760" y="5486400"/>
            <a:ext cx="3703320" cy="4572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3582644" name="Rectangle 34"/>
          <p:cNvSpPr/>
          <p:nvPr/>
        </p:nvSpPr>
        <p:spPr bwMode="auto">
          <a:xfrm>
            <a:off x="365760" y="548640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4147742" name="TextBox 35"/>
          <p:cNvSpPr txBox="1"/>
          <p:nvPr/>
        </p:nvSpPr>
        <p:spPr bwMode="auto">
          <a:xfrm>
            <a:off x="493776" y="55229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3B82F6"/>
                </a:solidFill>
              </a:rPr>
              <a:t>HttpOnly Cookie</a:t>
            </a:r>
            <a:endParaRPr/>
          </a:p>
        </p:txBody>
      </p:sp>
      <p:sp>
        <p:nvSpPr>
          <p:cNvPr id="33662516" name="TextBox 36"/>
          <p:cNvSpPr txBox="1"/>
          <p:nvPr/>
        </p:nvSpPr>
        <p:spPr bwMode="auto">
          <a:xfrm>
            <a:off x="493776" y="5715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8A9BB0"/>
                </a:solidFill>
              </a:rPr>
              <a:t>Token HMAC não acessível por JS</a:t>
            </a:r>
            <a:endParaRPr/>
          </a:p>
        </p:txBody>
      </p:sp>
      <p:sp>
        <p:nvSpPr>
          <p:cNvPr id="1542214558" name="Rectangle 37"/>
          <p:cNvSpPr/>
          <p:nvPr/>
        </p:nvSpPr>
        <p:spPr bwMode="auto">
          <a:xfrm>
            <a:off x="4297680" y="5486400"/>
            <a:ext cx="3703320" cy="4572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3509069" name="Rectangle 38"/>
          <p:cNvSpPr/>
          <p:nvPr/>
        </p:nvSpPr>
        <p:spPr bwMode="auto">
          <a:xfrm>
            <a:off x="4297680" y="548640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01527" name="TextBox 39"/>
          <p:cNvSpPr txBox="1"/>
          <p:nvPr/>
        </p:nvSpPr>
        <p:spPr bwMode="auto">
          <a:xfrm>
            <a:off x="4425696" y="55229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EF4444"/>
                </a:solidFill>
              </a:rPr>
              <a:t>Rate Limiting</a:t>
            </a:r>
            <a:endParaRPr/>
          </a:p>
        </p:txBody>
      </p:sp>
      <p:sp>
        <p:nvSpPr>
          <p:cNvPr id="298051245" name="TextBox 40"/>
          <p:cNvSpPr txBox="1"/>
          <p:nvPr/>
        </p:nvSpPr>
        <p:spPr bwMode="auto">
          <a:xfrm>
            <a:off x="4425696" y="5715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8A9BB0"/>
                </a:solidFill>
              </a:rPr>
              <a:t>10 tentativas / IP / 15 min (KV)</a:t>
            </a:r>
            <a:endParaRPr/>
          </a:p>
        </p:txBody>
      </p:sp>
      <p:sp>
        <p:nvSpPr>
          <p:cNvPr id="1986092586" name="Rectangle 41"/>
          <p:cNvSpPr/>
          <p:nvPr/>
        </p:nvSpPr>
        <p:spPr bwMode="auto">
          <a:xfrm>
            <a:off x="8229600" y="5486400"/>
            <a:ext cx="3703320" cy="4572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2708696" name="Rectangle 42"/>
          <p:cNvSpPr/>
          <p:nvPr/>
        </p:nvSpPr>
        <p:spPr bwMode="auto">
          <a:xfrm>
            <a:off x="8229600" y="548640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93043" name="TextBox 43"/>
          <p:cNvSpPr txBox="1"/>
          <p:nvPr/>
        </p:nvSpPr>
        <p:spPr bwMode="auto">
          <a:xfrm>
            <a:off x="8357616" y="552297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F59E0B"/>
                </a:solidFill>
              </a:rPr>
              <a:t>HMAC + Expiração</a:t>
            </a:r>
            <a:endParaRPr/>
          </a:p>
        </p:txBody>
      </p:sp>
      <p:sp>
        <p:nvSpPr>
          <p:cNvPr id="484963027" name="TextBox 44"/>
          <p:cNvSpPr txBox="1"/>
          <p:nvPr/>
        </p:nvSpPr>
        <p:spPr bwMode="auto">
          <a:xfrm>
            <a:off x="8357616" y="5715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8A9BB0"/>
                </a:solidFill>
              </a:rPr>
              <a:t>Token de reset expira em 1 hora</a:t>
            </a:r>
            <a:endParaRPr/>
          </a:p>
        </p:txBody>
      </p:sp>
      <p:sp>
        <p:nvSpPr>
          <p:cNvPr id="1357446969" name="Rectangle 45"/>
          <p:cNvSpPr/>
          <p:nvPr/>
        </p:nvSpPr>
        <p:spPr bwMode="auto">
          <a:xfrm>
            <a:off x="365760" y="6016752"/>
            <a:ext cx="3703320" cy="4572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1520109" name="Rectangle 46"/>
          <p:cNvSpPr/>
          <p:nvPr/>
        </p:nvSpPr>
        <p:spPr bwMode="auto">
          <a:xfrm>
            <a:off x="365760" y="6016752"/>
            <a:ext cx="54864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4316948" name="TextBox 47"/>
          <p:cNvSpPr txBox="1"/>
          <p:nvPr/>
        </p:nvSpPr>
        <p:spPr bwMode="auto">
          <a:xfrm>
            <a:off x="493776" y="6053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22C55E"/>
                </a:solidFill>
              </a:rPr>
              <a:t>Anti-enumeração</a:t>
            </a:r>
            <a:endParaRPr/>
          </a:p>
        </p:txBody>
      </p:sp>
      <p:sp>
        <p:nvSpPr>
          <p:cNvPr id="783795174" name="TextBox 48"/>
          <p:cNvSpPr txBox="1"/>
          <p:nvPr/>
        </p:nvSpPr>
        <p:spPr bwMode="auto">
          <a:xfrm>
            <a:off x="493776" y="62453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8A9BB0"/>
                </a:solidFill>
              </a:rPr>
              <a:t>Resposta sempre HTTP 200 no esqueci</a:t>
            </a:r>
            <a:endParaRPr/>
          </a:p>
        </p:txBody>
      </p:sp>
      <p:sp>
        <p:nvSpPr>
          <p:cNvPr id="1236088906" name="Rectangle 49"/>
          <p:cNvSpPr/>
          <p:nvPr/>
        </p:nvSpPr>
        <p:spPr bwMode="auto">
          <a:xfrm>
            <a:off x="4297680" y="6016752"/>
            <a:ext cx="3703320" cy="4572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1404155" name="Rectangle 50"/>
          <p:cNvSpPr/>
          <p:nvPr/>
        </p:nvSpPr>
        <p:spPr bwMode="auto">
          <a:xfrm>
            <a:off x="4297680" y="6016752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5818465" name="TextBox 51"/>
          <p:cNvSpPr txBox="1"/>
          <p:nvPr/>
        </p:nvSpPr>
        <p:spPr bwMode="auto">
          <a:xfrm>
            <a:off x="4425696" y="6053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06B6D4"/>
                </a:solidFill>
              </a:rPr>
              <a:t>Headers HTTP</a:t>
            </a:r>
            <a:endParaRPr/>
          </a:p>
        </p:txBody>
      </p:sp>
      <p:sp>
        <p:nvSpPr>
          <p:cNvPr id="202386481" name="TextBox 52"/>
          <p:cNvSpPr txBox="1"/>
          <p:nvPr/>
        </p:nvSpPr>
        <p:spPr bwMode="auto">
          <a:xfrm>
            <a:off x="4425696" y="62453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8A9BB0"/>
                </a:solidFill>
              </a:rPr>
              <a:t>HSTS, X-Frame, CSP, nosniff</a:t>
            </a:r>
            <a:endParaRPr/>
          </a:p>
        </p:txBody>
      </p:sp>
      <p:sp>
        <p:nvSpPr>
          <p:cNvPr id="1922737854" name="Rectangle 53"/>
          <p:cNvSpPr/>
          <p:nvPr/>
        </p:nvSpPr>
        <p:spPr bwMode="auto">
          <a:xfrm>
            <a:off x="8229600" y="6016752"/>
            <a:ext cx="3703320" cy="4572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5960041" name="Rectangle 54"/>
          <p:cNvSpPr/>
          <p:nvPr/>
        </p:nvSpPr>
        <p:spPr bwMode="auto">
          <a:xfrm>
            <a:off x="8229600" y="6016752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1172729" name="TextBox 55"/>
          <p:cNvSpPr txBox="1"/>
          <p:nvPr/>
        </p:nvSpPr>
        <p:spPr bwMode="auto">
          <a:xfrm>
            <a:off x="8357616" y="60533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8B5CF6"/>
                </a:solidFill>
              </a:rPr>
              <a:t>Internal API Key</a:t>
            </a:r>
            <a:endParaRPr/>
          </a:p>
        </p:txBody>
      </p:sp>
      <p:sp>
        <p:nvSpPr>
          <p:cNvPr id="826616713" name="TextBox 56"/>
          <p:cNvSpPr txBox="1"/>
          <p:nvPr/>
        </p:nvSpPr>
        <p:spPr bwMode="auto">
          <a:xfrm>
            <a:off x="8357616" y="62453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8A9BB0"/>
                </a:solidFill>
              </a:rPr>
              <a:t>Chave entre frontend e backend</a:t>
            </a:r>
            <a:endParaRPr/>
          </a:p>
        </p:txBody>
      </p:sp>
      <p:sp>
        <p:nvSpPr>
          <p:cNvPr id="1985193114" name="TextBox 57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138210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4680988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0735337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07 · Segurança — HttpOnly Cookie e Headers HTTP</a:t>
            </a:r>
            <a:endParaRPr/>
          </a:p>
        </p:txBody>
      </p:sp>
      <p:sp>
        <p:nvSpPr>
          <p:cNvPr id="156340245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Proteção contra XSS, CSRF e ataques de rede</a:t>
            </a:r>
            <a:endParaRPr/>
          </a:p>
        </p:txBody>
      </p:sp>
      <p:sp>
        <p:nvSpPr>
          <p:cNvPr id="2080707724" name="TextBox 5"/>
          <p:cNvSpPr txBox="1"/>
          <p:nvPr/>
        </p:nvSpPr>
        <p:spPr bwMode="auto">
          <a:xfrm>
            <a:off x="457200" y="13258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3B82F6"/>
                </a:solidFill>
              </a:rPr>
              <a:t>Sessão baseada em HttpOnly Cookie (substituição do sessionStorage)</a:t>
            </a:r>
            <a:endParaRPr/>
          </a:p>
        </p:txBody>
      </p:sp>
      <p:sp>
        <p:nvSpPr>
          <p:cNvPr id="904573876" name="Rectangle 6"/>
          <p:cNvSpPr/>
          <p:nvPr/>
        </p:nvSpPr>
        <p:spPr bwMode="auto">
          <a:xfrm>
            <a:off x="457200" y="1719072"/>
            <a:ext cx="7498079" cy="3200400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0649998" name="Rectangle 7"/>
          <p:cNvSpPr/>
          <p:nvPr/>
        </p:nvSpPr>
        <p:spPr bwMode="auto">
          <a:xfrm>
            <a:off x="457200" y="1719072"/>
            <a:ext cx="7498079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2692892" name="TextBox 8"/>
          <p:cNvSpPr txBox="1"/>
          <p:nvPr/>
        </p:nvSpPr>
        <p:spPr bwMode="auto">
          <a:xfrm>
            <a:off x="621792" y="1810512"/>
            <a:ext cx="7223759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// api/auth/login.js — cookie criado no servidor, invisível ao JavaScript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const token = createSessionToken(user.id, user.email, user.name)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res.setHeader('Set-Cookie', [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`s4_session=${token}`,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'HttpOnly',          // JavaScript não consegue ler — imune a XSS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'Secure',            // Apenas HTTPS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'SameSite=Strict',   // Imune a CSRF cross-site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'Max-Age=86400',     // 24 horas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'Path=/',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].join('; '))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// api/auth/me.js — valida em todo page refresh sem expor o token ao JS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function verifySessionToken(token) {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const [payload, sig] = token.split('.')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const expected = createHmac('sha256', SESSION_SECRET).update(payload).digest('base64url')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if (sig !== expected) return null         // assinatura inválida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if (Date.now() - data.iat &gt; 86400000) return null  // expirado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  return JSON.parse(Buffer.from(payload, 'base64url').toString())</a:t>
            </a:r>
            <a:endParaRPr/>
          </a:p>
          <a:p>
            <a:pPr>
              <a:defRPr/>
            </a:pPr>
            <a:r>
              <a:rPr sz="1050">
                <a:solidFill>
                  <a:srgbClr val="A5F3FC"/>
                </a:solidFill>
                <a:latin typeface="Courier New"/>
              </a:rPr>
              <a:t>}</a:t>
            </a:r>
            <a:endParaRPr/>
          </a:p>
        </p:txBody>
      </p:sp>
      <p:sp>
        <p:nvSpPr>
          <p:cNvPr id="327793146" name="Rectangle 9"/>
          <p:cNvSpPr/>
          <p:nvPr/>
        </p:nvSpPr>
        <p:spPr bwMode="auto">
          <a:xfrm>
            <a:off x="7772400" y="1719072"/>
            <a:ext cx="4114800" cy="32004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9815926" name="TextBox 10"/>
          <p:cNvSpPr txBox="1"/>
          <p:nvPr/>
        </p:nvSpPr>
        <p:spPr bwMode="auto">
          <a:xfrm>
            <a:off x="7909560" y="1828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06B6D4"/>
                </a:solidFill>
              </a:rPr>
              <a:t>Headers HTTP (vercel.json)</a:t>
            </a:r>
            <a:endParaRPr/>
          </a:p>
        </p:txBody>
      </p:sp>
      <p:sp>
        <p:nvSpPr>
          <p:cNvPr id="104320058" name="Rectangle 11"/>
          <p:cNvSpPr/>
          <p:nvPr/>
        </p:nvSpPr>
        <p:spPr bwMode="auto">
          <a:xfrm>
            <a:off x="7818120" y="2240280"/>
            <a:ext cx="40233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6856659" name="Rectangle 12"/>
          <p:cNvSpPr/>
          <p:nvPr/>
        </p:nvSpPr>
        <p:spPr bwMode="auto">
          <a:xfrm>
            <a:off x="7818120" y="2240280"/>
            <a:ext cx="4572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4358895" name="TextBox 13"/>
          <p:cNvSpPr txBox="1"/>
          <p:nvPr/>
        </p:nvSpPr>
        <p:spPr bwMode="auto">
          <a:xfrm>
            <a:off x="7927848" y="226771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06B6D4"/>
                </a:solidFill>
              </a:rPr>
              <a:t>Strict-Transport-Security</a:t>
            </a:r>
            <a:endParaRPr/>
          </a:p>
        </p:txBody>
      </p:sp>
      <p:sp>
        <p:nvSpPr>
          <p:cNvPr id="1285491751" name="TextBox 14"/>
          <p:cNvSpPr txBox="1"/>
          <p:nvPr/>
        </p:nvSpPr>
        <p:spPr bwMode="auto">
          <a:xfrm>
            <a:off x="7927848" y="2441448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8A9BB0"/>
                </a:solidFill>
              </a:rPr>
              <a:t>HSTS 2 anos + preload</a:t>
            </a:r>
            <a:endParaRPr/>
          </a:p>
        </p:txBody>
      </p:sp>
      <p:sp>
        <p:nvSpPr>
          <p:cNvPr id="1576159062" name="Rectangle 15"/>
          <p:cNvSpPr/>
          <p:nvPr/>
        </p:nvSpPr>
        <p:spPr bwMode="auto">
          <a:xfrm>
            <a:off x="7818120" y="2679192"/>
            <a:ext cx="40233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3639622" name="Rectangle 16"/>
          <p:cNvSpPr/>
          <p:nvPr/>
        </p:nvSpPr>
        <p:spPr bwMode="auto">
          <a:xfrm>
            <a:off x="7818120" y="2679192"/>
            <a:ext cx="4572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9503242" name="TextBox 17"/>
          <p:cNvSpPr txBox="1"/>
          <p:nvPr/>
        </p:nvSpPr>
        <p:spPr bwMode="auto">
          <a:xfrm>
            <a:off x="7927848" y="2706624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22C55E"/>
                </a:solidFill>
              </a:rPr>
              <a:t>X-Content-Type-Options</a:t>
            </a:r>
            <a:endParaRPr/>
          </a:p>
        </p:txBody>
      </p:sp>
      <p:sp>
        <p:nvSpPr>
          <p:cNvPr id="353028915" name="TextBox 18"/>
          <p:cNvSpPr txBox="1"/>
          <p:nvPr/>
        </p:nvSpPr>
        <p:spPr bwMode="auto">
          <a:xfrm>
            <a:off x="7927848" y="2880360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8A9BB0"/>
                </a:solidFill>
              </a:rPr>
              <a:t>Bloqueia MIME sniffing</a:t>
            </a:r>
            <a:endParaRPr/>
          </a:p>
        </p:txBody>
      </p:sp>
      <p:sp>
        <p:nvSpPr>
          <p:cNvPr id="1378706678" name="Rectangle 19"/>
          <p:cNvSpPr/>
          <p:nvPr/>
        </p:nvSpPr>
        <p:spPr bwMode="auto">
          <a:xfrm>
            <a:off x="7818120" y="3118104"/>
            <a:ext cx="40233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6335384" name="Rectangle 20"/>
          <p:cNvSpPr/>
          <p:nvPr/>
        </p:nvSpPr>
        <p:spPr bwMode="auto">
          <a:xfrm>
            <a:off x="7818120" y="3118104"/>
            <a:ext cx="4572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4235373" name="TextBox 21"/>
          <p:cNvSpPr txBox="1"/>
          <p:nvPr/>
        </p:nvSpPr>
        <p:spPr bwMode="auto">
          <a:xfrm>
            <a:off x="7927848" y="3145536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F59E0B"/>
                </a:solidFill>
              </a:rPr>
              <a:t>X-Frame-Options</a:t>
            </a:r>
            <a:endParaRPr/>
          </a:p>
        </p:txBody>
      </p:sp>
      <p:sp>
        <p:nvSpPr>
          <p:cNvPr id="1201720852" name="TextBox 22"/>
          <p:cNvSpPr txBox="1"/>
          <p:nvPr/>
        </p:nvSpPr>
        <p:spPr bwMode="auto">
          <a:xfrm>
            <a:off x="7927848" y="3319272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8A9BB0"/>
                </a:solidFill>
              </a:rPr>
              <a:t>Previne clickjacking</a:t>
            </a:r>
            <a:endParaRPr/>
          </a:p>
        </p:txBody>
      </p:sp>
      <p:sp>
        <p:nvSpPr>
          <p:cNvPr id="259734497" name="Rectangle 23"/>
          <p:cNvSpPr/>
          <p:nvPr/>
        </p:nvSpPr>
        <p:spPr bwMode="auto">
          <a:xfrm>
            <a:off x="7818120" y="3557016"/>
            <a:ext cx="40233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2007487" name="Rectangle 24"/>
          <p:cNvSpPr/>
          <p:nvPr/>
        </p:nvSpPr>
        <p:spPr bwMode="auto">
          <a:xfrm>
            <a:off x="7818120" y="3557016"/>
            <a:ext cx="4572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3349245" name="TextBox 25"/>
          <p:cNvSpPr txBox="1"/>
          <p:nvPr/>
        </p:nvSpPr>
        <p:spPr bwMode="auto">
          <a:xfrm>
            <a:off x="7927848" y="3584448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EF4444"/>
                </a:solidFill>
              </a:rPr>
              <a:t>X-XSS-Protection</a:t>
            </a:r>
            <a:endParaRPr/>
          </a:p>
        </p:txBody>
      </p:sp>
      <p:sp>
        <p:nvSpPr>
          <p:cNvPr id="588370561" name="TextBox 26"/>
          <p:cNvSpPr txBox="1"/>
          <p:nvPr/>
        </p:nvSpPr>
        <p:spPr bwMode="auto">
          <a:xfrm>
            <a:off x="7927848" y="3758184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8A9BB0"/>
                </a:solidFill>
              </a:rPr>
              <a:t>Proteção XSS browsers</a:t>
            </a:r>
            <a:endParaRPr/>
          </a:p>
        </p:txBody>
      </p:sp>
      <p:sp>
        <p:nvSpPr>
          <p:cNvPr id="905466918" name="Rectangle 27"/>
          <p:cNvSpPr/>
          <p:nvPr/>
        </p:nvSpPr>
        <p:spPr bwMode="auto">
          <a:xfrm>
            <a:off x="7818120" y="3995928"/>
            <a:ext cx="40233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5452606" name="Rectangle 28"/>
          <p:cNvSpPr/>
          <p:nvPr/>
        </p:nvSpPr>
        <p:spPr bwMode="auto">
          <a:xfrm>
            <a:off x="7818120" y="3995928"/>
            <a:ext cx="4572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2047913" name="TextBox 29"/>
          <p:cNvSpPr txBox="1"/>
          <p:nvPr/>
        </p:nvSpPr>
        <p:spPr bwMode="auto">
          <a:xfrm>
            <a:off x="7927848" y="402336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3B82F6"/>
                </a:solidFill>
              </a:rPr>
              <a:t>Referrer-Policy</a:t>
            </a:r>
            <a:endParaRPr/>
          </a:p>
        </p:txBody>
      </p:sp>
      <p:sp>
        <p:nvSpPr>
          <p:cNvPr id="315986569" name="TextBox 30"/>
          <p:cNvSpPr txBox="1"/>
          <p:nvPr/>
        </p:nvSpPr>
        <p:spPr bwMode="auto">
          <a:xfrm>
            <a:off x="7927848" y="4197096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8A9BB0"/>
                </a:solidFill>
              </a:rPr>
              <a:t>Controla headers Referer</a:t>
            </a:r>
            <a:endParaRPr/>
          </a:p>
        </p:txBody>
      </p:sp>
      <p:sp>
        <p:nvSpPr>
          <p:cNvPr id="963065404" name="Rectangle 31"/>
          <p:cNvSpPr/>
          <p:nvPr/>
        </p:nvSpPr>
        <p:spPr bwMode="auto">
          <a:xfrm>
            <a:off x="7818120" y="4434840"/>
            <a:ext cx="40233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1150899" name="Rectangle 32"/>
          <p:cNvSpPr/>
          <p:nvPr/>
        </p:nvSpPr>
        <p:spPr bwMode="auto">
          <a:xfrm>
            <a:off x="7818120" y="4434840"/>
            <a:ext cx="4572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6105903" name="TextBox 33"/>
          <p:cNvSpPr txBox="1"/>
          <p:nvPr/>
        </p:nvSpPr>
        <p:spPr bwMode="auto">
          <a:xfrm>
            <a:off x="7927848" y="446227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>
                <a:solidFill>
                  <a:srgbClr val="8B5CF6"/>
                </a:solidFill>
              </a:rPr>
              <a:t>Permissions-Policy</a:t>
            </a:r>
            <a:endParaRPr/>
          </a:p>
        </p:txBody>
      </p:sp>
      <p:sp>
        <p:nvSpPr>
          <p:cNvPr id="2037653739" name="TextBox 34"/>
          <p:cNvSpPr txBox="1"/>
          <p:nvPr/>
        </p:nvSpPr>
        <p:spPr bwMode="auto">
          <a:xfrm>
            <a:off x="7927848" y="4636007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8A9BB0"/>
                </a:solidFill>
              </a:rPr>
              <a:t>Bloqueia câmera/micro</a:t>
            </a:r>
            <a:endParaRPr/>
          </a:p>
        </p:txBody>
      </p:sp>
      <p:sp>
        <p:nvSpPr>
          <p:cNvPr id="1712549420" name="TextBox 35"/>
          <p:cNvSpPr txBox="1"/>
          <p:nvPr/>
        </p:nvSpPr>
        <p:spPr bwMode="auto">
          <a:xfrm>
            <a:off x="457200" y="5074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FFFFFF"/>
                </a:solidFill>
              </a:rPr>
              <a:t>Defesa em profundidade</a:t>
            </a:r>
            <a:endParaRPr/>
          </a:p>
        </p:txBody>
      </p:sp>
      <p:sp>
        <p:nvSpPr>
          <p:cNvPr id="1270802667" name="Rectangle 36"/>
          <p:cNvSpPr/>
          <p:nvPr/>
        </p:nvSpPr>
        <p:spPr bwMode="auto">
          <a:xfrm>
            <a:off x="365760" y="5440680"/>
            <a:ext cx="2103120" cy="10972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1776993" name="Rectangle 37"/>
          <p:cNvSpPr/>
          <p:nvPr/>
        </p:nvSpPr>
        <p:spPr bwMode="auto">
          <a:xfrm>
            <a:off x="365760" y="5440680"/>
            <a:ext cx="21031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4579716" name="TextBox 38"/>
          <p:cNvSpPr txBox="1"/>
          <p:nvPr/>
        </p:nvSpPr>
        <p:spPr bwMode="auto">
          <a:xfrm>
            <a:off x="457200" y="55321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EF4444"/>
                </a:solidFill>
              </a:rPr>
              <a:t>HTTPS / HSTS</a:t>
            </a:r>
            <a:endParaRPr/>
          </a:p>
        </p:txBody>
      </p:sp>
      <p:sp>
        <p:nvSpPr>
          <p:cNvPr id="80545243" name="Rectangle 39"/>
          <p:cNvSpPr/>
          <p:nvPr/>
        </p:nvSpPr>
        <p:spPr bwMode="auto">
          <a:xfrm>
            <a:off x="2651760" y="5440680"/>
            <a:ext cx="2103120" cy="10972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0929976" name="Rectangle 40"/>
          <p:cNvSpPr/>
          <p:nvPr/>
        </p:nvSpPr>
        <p:spPr bwMode="auto">
          <a:xfrm>
            <a:off x="2651760" y="544068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6066241" name="TextBox 41"/>
          <p:cNvSpPr txBox="1"/>
          <p:nvPr/>
        </p:nvSpPr>
        <p:spPr bwMode="auto">
          <a:xfrm>
            <a:off x="2743200" y="55321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59E0B"/>
                </a:solidFill>
              </a:rPr>
              <a:t>HttpOnly Cookie</a:t>
            </a:r>
            <a:endParaRPr/>
          </a:p>
        </p:txBody>
      </p:sp>
      <p:sp>
        <p:nvSpPr>
          <p:cNvPr id="757384187" name="Rectangle 42"/>
          <p:cNvSpPr/>
          <p:nvPr/>
        </p:nvSpPr>
        <p:spPr bwMode="auto">
          <a:xfrm>
            <a:off x="4937760" y="5440680"/>
            <a:ext cx="2103120" cy="10972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8798020" name="Rectangle 43"/>
          <p:cNvSpPr/>
          <p:nvPr/>
        </p:nvSpPr>
        <p:spPr bwMode="auto">
          <a:xfrm>
            <a:off x="4937760" y="5440680"/>
            <a:ext cx="21031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9752560" name="TextBox 44"/>
          <p:cNvSpPr txBox="1"/>
          <p:nvPr/>
        </p:nvSpPr>
        <p:spPr bwMode="auto">
          <a:xfrm>
            <a:off x="5029200" y="55321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97316"/>
                </a:solidFill>
              </a:rPr>
              <a:t>Rate Limiting</a:t>
            </a:r>
            <a:endParaRPr/>
          </a:p>
        </p:txBody>
      </p:sp>
      <p:sp>
        <p:nvSpPr>
          <p:cNvPr id="1771647808" name="Rectangle 45"/>
          <p:cNvSpPr/>
          <p:nvPr/>
        </p:nvSpPr>
        <p:spPr bwMode="auto">
          <a:xfrm>
            <a:off x="7223760" y="5440680"/>
            <a:ext cx="2103120" cy="10972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145388" name="Rectangle 46"/>
          <p:cNvSpPr/>
          <p:nvPr/>
        </p:nvSpPr>
        <p:spPr bwMode="auto">
          <a:xfrm>
            <a:off x="7223760" y="5440680"/>
            <a:ext cx="21031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6656281" name="TextBox 47"/>
          <p:cNvSpPr txBox="1"/>
          <p:nvPr/>
        </p:nvSpPr>
        <p:spPr bwMode="auto">
          <a:xfrm>
            <a:off x="7315200" y="55321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22C55E"/>
                </a:solidFill>
              </a:rPr>
              <a:t>HMAC assinado</a:t>
            </a:r>
            <a:endParaRPr/>
          </a:p>
        </p:txBody>
      </p:sp>
      <p:sp>
        <p:nvSpPr>
          <p:cNvPr id="588109096" name="Rectangle 48"/>
          <p:cNvSpPr/>
          <p:nvPr/>
        </p:nvSpPr>
        <p:spPr bwMode="auto">
          <a:xfrm>
            <a:off x="9509760" y="5440680"/>
            <a:ext cx="2103120" cy="10972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3411224" name="Rectangle 49"/>
          <p:cNvSpPr/>
          <p:nvPr/>
        </p:nvSpPr>
        <p:spPr bwMode="auto">
          <a:xfrm>
            <a:off x="9509760" y="544068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2333563" name="TextBox 50"/>
          <p:cNvSpPr txBox="1"/>
          <p:nvPr/>
        </p:nvSpPr>
        <p:spPr bwMode="auto">
          <a:xfrm>
            <a:off x="9601200" y="55321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3B82F6"/>
                </a:solidFill>
              </a:rPr>
              <a:t>Argon2+Pepper</a:t>
            </a:r>
            <a:endParaRPr/>
          </a:p>
        </p:txBody>
      </p:sp>
      <p:sp>
        <p:nvSpPr>
          <p:cNvPr id="441374354" name="TextBox 51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451170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1106869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084562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08 · Resultados e Métricas</a:t>
            </a:r>
            <a:endParaRPr/>
          </a:p>
        </p:txBody>
      </p:sp>
      <p:sp>
        <p:nvSpPr>
          <p:cNvPr id="443040735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Evidências quantitativas da qualidade do projeto</a:t>
            </a:r>
            <a:endParaRPr/>
          </a:p>
        </p:txBody>
      </p:sp>
      <p:sp>
        <p:nvSpPr>
          <p:cNvPr id="869254069" name="Rectangle 5"/>
          <p:cNvSpPr/>
          <p:nvPr/>
        </p:nvSpPr>
        <p:spPr bwMode="auto">
          <a:xfrm>
            <a:off x="320040" y="1389888"/>
            <a:ext cx="2697480" cy="1554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6912412" name="Rectangle 6"/>
          <p:cNvSpPr/>
          <p:nvPr/>
        </p:nvSpPr>
        <p:spPr bwMode="auto">
          <a:xfrm>
            <a:off x="320040" y="1389888"/>
            <a:ext cx="269748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056323" name="TextBox 7"/>
          <p:cNvSpPr txBox="1"/>
          <p:nvPr/>
        </p:nvSpPr>
        <p:spPr bwMode="auto">
          <a:xfrm>
            <a:off x="429768" y="152704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22C55E"/>
                </a:solidFill>
              </a:rPr>
              <a:t>28</a:t>
            </a:r>
            <a:endParaRPr/>
          </a:p>
        </p:txBody>
      </p:sp>
      <p:sp>
        <p:nvSpPr>
          <p:cNvPr id="1153753382" name="TextBox 8"/>
          <p:cNvSpPr txBox="1"/>
          <p:nvPr/>
        </p:nvSpPr>
        <p:spPr bwMode="auto">
          <a:xfrm>
            <a:off x="429768" y="21945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100% passando</a:t>
            </a:r>
            <a:endParaRPr/>
          </a:p>
        </p:txBody>
      </p:sp>
      <p:sp>
        <p:nvSpPr>
          <p:cNvPr id="237369267" name="TextBox 9"/>
          <p:cNvSpPr txBox="1"/>
          <p:nvPr/>
        </p:nvSpPr>
        <p:spPr bwMode="auto">
          <a:xfrm>
            <a:off x="429768" y="2487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</a:rPr>
              <a:t>Testes unitários</a:t>
            </a:r>
            <a:endParaRPr/>
          </a:p>
        </p:txBody>
      </p:sp>
      <p:sp>
        <p:nvSpPr>
          <p:cNvPr id="563549687" name="Rectangle 10"/>
          <p:cNvSpPr/>
          <p:nvPr/>
        </p:nvSpPr>
        <p:spPr bwMode="auto">
          <a:xfrm>
            <a:off x="3246120" y="1389888"/>
            <a:ext cx="2697480" cy="1554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3201517" name="Rectangle 11"/>
          <p:cNvSpPr/>
          <p:nvPr/>
        </p:nvSpPr>
        <p:spPr bwMode="auto">
          <a:xfrm>
            <a:off x="3246120" y="1389888"/>
            <a:ext cx="26974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2243985" name="TextBox 12"/>
          <p:cNvSpPr txBox="1"/>
          <p:nvPr/>
        </p:nvSpPr>
        <p:spPr bwMode="auto">
          <a:xfrm>
            <a:off x="3355848" y="152704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3B82F6"/>
                </a:solidFill>
              </a:rPr>
              <a:t>4</a:t>
            </a:r>
            <a:endParaRPr/>
          </a:p>
        </p:txBody>
      </p:sp>
      <p:sp>
        <p:nvSpPr>
          <p:cNvPr id="1593139640" name="TextBox 13"/>
          <p:cNvSpPr txBox="1"/>
          <p:nvPr/>
        </p:nvSpPr>
        <p:spPr bwMode="auto">
          <a:xfrm>
            <a:off x="3355848" y="21945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Test files</a:t>
            </a:r>
            <a:endParaRPr/>
          </a:p>
        </p:txBody>
      </p:sp>
      <p:sp>
        <p:nvSpPr>
          <p:cNvPr id="984142285" name="TextBox 14"/>
          <p:cNvSpPr txBox="1"/>
          <p:nvPr/>
        </p:nvSpPr>
        <p:spPr bwMode="auto">
          <a:xfrm>
            <a:off x="3355848" y="2487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</a:rPr>
              <a:t>Arquivos de teste</a:t>
            </a:r>
            <a:endParaRPr/>
          </a:p>
        </p:txBody>
      </p:sp>
      <p:sp>
        <p:nvSpPr>
          <p:cNvPr id="888270142" name="Rectangle 15"/>
          <p:cNvSpPr/>
          <p:nvPr/>
        </p:nvSpPr>
        <p:spPr bwMode="auto">
          <a:xfrm>
            <a:off x="6172200" y="1389888"/>
            <a:ext cx="2697480" cy="1554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1493470" name="Rectangle 16"/>
          <p:cNvSpPr/>
          <p:nvPr/>
        </p:nvSpPr>
        <p:spPr bwMode="auto">
          <a:xfrm>
            <a:off x="6172200" y="1389888"/>
            <a:ext cx="26974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2379883" name="TextBox 17"/>
          <p:cNvSpPr txBox="1"/>
          <p:nvPr/>
        </p:nvSpPr>
        <p:spPr bwMode="auto">
          <a:xfrm>
            <a:off x="6281928" y="152704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06B6D4"/>
                </a:solidFill>
              </a:rPr>
              <a:t>18 KB</a:t>
            </a:r>
            <a:endParaRPr/>
          </a:p>
        </p:txBody>
      </p:sp>
      <p:sp>
        <p:nvSpPr>
          <p:cNvPr id="1032107948" name="TextBox 18"/>
          <p:cNvSpPr txBox="1"/>
          <p:nvPr/>
        </p:nvSpPr>
        <p:spPr bwMode="auto">
          <a:xfrm>
            <a:off x="6281928" y="21945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antes: 517 KB</a:t>
            </a:r>
            <a:endParaRPr/>
          </a:p>
        </p:txBody>
      </p:sp>
      <p:sp>
        <p:nvSpPr>
          <p:cNvPr id="2054936035" name="TextBox 19"/>
          <p:cNvSpPr txBox="1"/>
          <p:nvPr/>
        </p:nvSpPr>
        <p:spPr bwMode="auto">
          <a:xfrm>
            <a:off x="6281928" y="2487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</a:rPr>
              <a:t>Bundle inicial</a:t>
            </a:r>
            <a:endParaRPr/>
          </a:p>
        </p:txBody>
      </p:sp>
      <p:sp>
        <p:nvSpPr>
          <p:cNvPr id="1917112216" name="Rectangle 20"/>
          <p:cNvSpPr/>
          <p:nvPr/>
        </p:nvSpPr>
        <p:spPr bwMode="auto">
          <a:xfrm>
            <a:off x="9098280" y="1389888"/>
            <a:ext cx="2697480" cy="1554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0032146" name="Rectangle 21"/>
          <p:cNvSpPr/>
          <p:nvPr/>
        </p:nvSpPr>
        <p:spPr bwMode="auto">
          <a:xfrm>
            <a:off x="9098280" y="1389888"/>
            <a:ext cx="269748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8083997" name="TextBox 22"/>
          <p:cNvSpPr txBox="1"/>
          <p:nvPr/>
        </p:nvSpPr>
        <p:spPr bwMode="auto">
          <a:xfrm>
            <a:off x="9208008" y="152704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8B5CF6"/>
                </a:solidFill>
              </a:rPr>
              <a:t>15+</a:t>
            </a:r>
            <a:endParaRPr/>
          </a:p>
        </p:txBody>
      </p:sp>
      <p:sp>
        <p:nvSpPr>
          <p:cNvPr id="720374946" name="TextBox 23"/>
          <p:cNvSpPr txBox="1"/>
          <p:nvPr/>
        </p:nvSpPr>
        <p:spPr bwMode="auto">
          <a:xfrm>
            <a:off x="9208008" y="21945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lazy por rota</a:t>
            </a:r>
            <a:endParaRPr/>
          </a:p>
        </p:txBody>
      </p:sp>
      <p:sp>
        <p:nvSpPr>
          <p:cNvPr id="1109215568" name="TextBox 24"/>
          <p:cNvSpPr txBox="1"/>
          <p:nvPr/>
        </p:nvSpPr>
        <p:spPr bwMode="auto">
          <a:xfrm>
            <a:off x="9208008" y="2487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</a:rPr>
              <a:t>Chunks separados</a:t>
            </a:r>
            <a:endParaRPr/>
          </a:p>
        </p:txBody>
      </p:sp>
      <p:sp>
        <p:nvSpPr>
          <p:cNvPr id="704881385" name="Rectangle 25"/>
          <p:cNvSpPr/>
          <p:nvPr/>
        </p:nvSpPr>
        <p:spPr bwMode="auto">
          <a:xfrm>
            <a:off x="320040" y="3081528"/>
            <a:ext cx="2697480" cy="1554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7182142" name="Rectangle 26"/>
          <p:cNvSpPr/>
          <p:nvPr/>
        </p:nvSpPr>
        <p:spPr bwMode="auto">
          <a:xfrm>
            <a:off x="320040" y="3081528"/>
            <a:ext cx="26974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0558672" name="TextBox 27"/>
          <p:cNvSpPr txBox="1"/>
          <p:nvPr/>
        </p:nvSpPr>
        <p:spPr bwMode="auto">
          <a:xfrm>
            <a:off x="429768" y="321868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F59E0B"/>
                </a:solidFill>
              </a:rPr>
              <a:t>&lt; 1s</a:t>
            </a:r>
            <a:endParaRPr/>
          </a:p>
        </p:txBody>
      </p:sp>
      <p:sp>
        <p:nvSpPr>
          <p:cNvPr id="1514614882" name="TextBox 28"/>
          <p:cNvSpPr txBox="1"/>
          <p:nvPr/>
        </p:nvSpPr>
        <p:spPr bwMode="auto">
          <a:xfrm>
            <a:off x="429768" y="38862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produção</a:t>
            </a:r>
            <a:endParaRPr/>
          </a:p>
        </p:txBody>
      </p:sp>
      <p:sp>
        <p:nvSpPr>
          <p:cNvPr id="1125401689" name="TextBox 29"/>
          <p:cNvSpPr txBox="1"/>
          <p:nvPr/>
        </p:nvSpPr>
        <p:spPr bwMode="auto">
          <a:xfrm>
            <a:off x="429768" y="41788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</a:rPr>
              <a:t>Tempo de build</a:t>
            </a:r>
            <a:endParaRPr/>
          </a:p>
        </p:txBody>
      </p:sp>
      <p:sp>
        <p:nvSpPr>
          <p:cNvPr id="467561661" name="Rectangle 30"/>
          <p:cNvSpPr/>
          <p:nvPr/>
        </p:nvSpPr>
        <p:spPr bwMode="auto">
          <a:xfrm>
            <a:off x="3246120" y="3081528"/>
            <a:ext cx="2697480" cy="1554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5966762" name="Rectangle 31"/>
          <p:cNvSpPr/>
          <p:nvPr/>
        </p:nvSpPr>
        <p:spPr bwMode="auto">
          <a:xfrm>
            <a:off x="3246120" y="3081528"/>
            <a:ext cx="269748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258579" name="TextBox 32"/>
          <p:cNvSpPr txBox="1"/>
          <p:nvPr/>
        </p:nvSpPr>
        <p:spPr bwMode="auto">
          <a:xfrm>
            <a:off x="3355848" y="321868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22C55E"/>
                </a:solidFill>
              </a:rPr>
              <a:t>8</a:t>
            </a:r>
            <a:endParaRPr/>
          </a:p>
        </p:txBody>
      </p:sp>
      <p:sp>
        <p:nvSpPr>
          <p:cNvPr id="1285150560" name="TextBox 33"/>
          <p:cNvSpPr txBox="1"/>
          <p:nvPr/>
        </p:nvSpPr>
        <p:spPr bwMode="auto">
          <a:xfrm>
            <a:off x="3355848" y="38862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independentes</a:t>
            </a:r>
            <a:endParaRPr/>
          </a:p>
        </p:txBody>
      </p:sp>
      <p:sp>
        <p:nvSpPr>
          <p:cNvPr id="1421763681" name="TextBox 34"/>
          <p:cNvSpPr txBox="1"/>
          <p:nvPr/>
        </p:nvSpPr>
        <p:spPr bwMode="auto">
          <a:xfrm>
            <a:off x="3355848" y="41788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</a:rPr>
              <a:t>Serverless Functions</a:t>
            </a:r>
            <a:endParaRPr/>
          </a:p>
        </p:txBody>
      </p:sp>
      <p:sp>
        <p:nvSpPr>
          <p:cNvPr id="1386405261" name="Rectangle 35"/>
          <p:cNvSpPr/>
          <p:nvPr/>
        </p:nvSpPr>
        <p:spPr bwMode="auto">
          <a:xfrm>
            <a:off x="6172200" y="3081528"/>
            <a:ext cx="2697480" cy="1554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7949221" name="Rectangle 36"/>
          <p:cNvSpPr/>
          <p:nvPr/>
        </p:nvSpPr>
        <p:spPr bwMode="auto">
          <a:xfrm>
            <a:off x="6172200" y="3081528"/>
            <a:ext cx="269748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1402046" name="TextBox 37"/>
          <p:cNvSpPr txBox="1"/>
          <p:nvPr/>
        </p:nvSpPr>
        <p:spPr bwMode="auto">
          <a:xfrm>
            <a:off x="6281928" y="321868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EF4444"/>
                </a:solidFill>
              </a:rPr>
              <a:t>6</a:t>
            </a:r>
            <a:endParaRPr/>
          </a:p>
        </p:txBody>
      </p:sp>
      <p:sp>
        <p:nvSpPr>
          <p:cNvPr id="1402199581" name="TextBox 38"/>
          <p:cNvSpPr txBox="1"/>
          <p:nvPr/>
        </p:nvSpPr>
        <p:spPr bwMode="auto">
          <a:xfrm>
            <a:off x="6281928" y="38862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aplicados globalmente</a:t>
            </a:r>
            <a:endParaRPr/>
          </a:p>
        </p:txBody>
      </p:sp>
      <p:sp>
        <p:nvSpPr>
          <p:cNvPr id="60485798" name="TextBox 39"/>
          <p:cNvSpPr txBox="1"/>
          <p:nvPr/>
        </p:nvSpPr>
        <p:spPr bwMode="auto">
          <a:xfrm>
            <a:off x="6281928" y="41788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</a:rPr>
              <a:t>Headers de segurança</a:t>
            </a:r>
            <a:endParaRPr/>
          </a:p>
        </p:txBody>
      </p:sp>
      <p:sp>
        <p:nvSpPr>
          <p:cNvPr id="1915138199" name="Rectangle 40"/>
          <p:cNvSpPr/>
          <p:nvPr/>
        </p:nvSpPr>
        <p:spPr bwMode="auto">
          <a:xfrm>
            <a:off x="9098280" y="3081528"/>
            <a:ext cx="2697480" cy="1554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6456914" name="Rectangle 41"/>
          <p:cNvSpPr/>
          <p:nvPr/>
        </p:nvSpPr>
        <p:spPr bwMode="auto">
          <a:xfrm>
            <a:off x="9098280" y="3081528"/>
            <a:ext cx="26974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8791271" name="TextBox 42"/>
          <p:cNvSpPr txBox="1"/>
          <p:nvPr/>
        </p:nvSpPr>
        <p:spPr bwMode="auto">
          <a:xfrm>
            <a:off x="9208008" y="321868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3B82F6"/>
                </a:solidFill>
              </a:rPr>
              <a:t>5</a:t>
            </a:r>
            <a:endParaRPr/>
          </a:p>
        </p:txBody>
      </p:sp>
      <p:sp>
        <p:nvSpPr>
          <p:cNvPr id="1429776083" name="TextBox 43"/>
          <p:cNvSpPr txBox="1"/>
          <p:nvPr/>
        </p:nvSpPr>
        <p:spPr bwMode="auto">
          <a:xfrm>
            <a:off x="9208008" y="38862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defesa em profundidade</a:t>
            </a:r>
            <a:endParaRPr/>
          </a:p>
        </p:txBody>
      </p:sp>
      <p:sp>
        <p:nvSpPr>
          <p:cNvPr id="1668155163" name="TextBox 44"/>
          <p:cNvSpPr txBox="1"/>
          <p:nvPr/>
        </p:nvSpPr>
        <p:spPr bwMode="auto">
          <a:xfrm>
            <a:off x="9208008" y="41788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</a:rPr>
              <a:t>Camadas de segurança</a:t>
            </a:r>
            <a:endParaRPr/>
          </a:p>
        </p:txBody>
      </p:sp>
      <p:sp>
        <p:nvSpPr>
          <p:cNvPr id="1919452498" name="Rectangle 45"/>
          <p:cNvSpPr/>
          <p:nvPr/>
        </p:nvSpPr>
        <p:spPr bwMode="auto">
          <a:xfrm>
            <a:off x="320040" y="4773168"/>
            <a:ext cx="2697480" cy="1554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1789054" name="Rectangle 46"/>
          <p:cNvSpPr/>
          <p:nvPr/>
        </p:nvSpPr>
        <p:spPr bwMode="auto">
          <a:xfrm>
            <a:off x="320040" y="4773168"/>
            <a:ext cx="26974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846189" name="TextBox 47"/>
          <p:cNvSpPr txBox="1"/>
          <p:nvPr/>
        </p:nvSpPr>
        <p:spPr bwMode="auto">
          <a:xfrm>
            <a:off x="429768" y="491032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F59E0B"/>
                </a:solidFill>
              </a:rPr>
              <a:t>R$ 0</a:t>
            </a:r>
            <a:endParaRPr/>
          </a:p>
        </p:txBody>
      </p:sp>
      <p:sp>
        <p:nvSpPr>
          <p:cNvPr id="1456254537" name="TextBox 48"/>
          <p:cNvSpPr txBox="1"/>
          <p:nvPr/>
        </p:nvSpPr>
        <p:spPr bwMode="auto">
          <a:xfrm>
            <a:off x="429768" y="5577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por mês</a:t>
            </a:r>
            <a:endParaRPr/>
          </a:p>
        </p:txBody>
      </p:sp>
      <p:sp>
        <p:nvSpPr>
          <p:cNvPr id="13140739" name="TextBox 49"/>
          <p:cNvSpPr txBox="1"/>
          <p:nvPr/>
        </p:nvSpPr>
        <p:spPr bwMode="auto">
          <a:xfrm>
            <a:off x="429768" y="5870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</a:rPr>
              <a:t>Custo operacional</a:t>
            </a:r>
            <a:endParaRPr/>
          </a:p>
        </p:txBody>
      </p:sp>
      <p:sp>
        <p:nvSpPr>
          <p:cNvPr id="803711581" name="Rectangle 50"/>
          <p:cNvSpPr/>
          <p:nvPr/>
        </p:nvSpPr>
        <p:spPr bwMode="auto">
          <a:xfrm>
            <a:off x="3246120" y="4773168"/>
            <a:ext cx="2697480" cy="1554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7381170" name="Rectangle 51"/>
          <p:cNvSpPr/>
          <p:nvPr/>
        </p:nvSpPr>
        <p:spPr bwMode="auto">
          <a:xfrm>
            <a:off x="3246120" y="4773168"/>
            <a:ext cx="26974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5524295" name="TextBox 52"/>
          <p:cNvSpPr txBox="1"/>
          <p:nvPr/>
        </p:nvSpPr>
        <p:spPr bwMode="auto">
          <a:xfrm>
            <a:off x="3355848" y="491032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06B6D4"/>
                </a:solidFill>
              </a:rPr>
              <a:t>99.9%</a:t>
            </a:r>
            <a:endParaRPr/>
          </a:p>
        </p:txBody>
      </p:sp>
      <p:sp>
        <p:nvSpPr>
          <p:cNvPr id="1724906398" name="TextBox 53"/>
          <p:cNvSpPr txBox="1"/>
          <p:nvPr/>
        </p:nvSpPr>
        <p:spPr bwMode="auto">
          <a:xfrm>
            <a:off x="3355848" y="5577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Vercel + Oracle</a:t>
            </a:r>
            <a:endParaRPr/>
          </a:p>
        </p:txBody>
      </p:sp>
      <p:sp>
        <p:nvSpPr>
          <p:cNvPr id="125269500" name="TextBox 54"/>
          <p:cNvSpPr txBox="1"/>
          <p:nvPr/>
        </p:nvSpPr>
        <p:spPr bwMode="auto">
          <a:xfrm>
            <a:off x="3355848" y="5870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</a:rPr>
              <a:t>Uptime infra</a:t>
            </a:r>
            <a:endParaRPr/>
          </a:p>
        </p:txBody>
      </p:sp>
      <p:sp>
        <p:nvSpPr>
          <p:cNvPr id="2094897477" name="Rectangle 55"/>
          <p:cNvSpPr/>
          <p:nvPr/>
        </p:nvSpPr>
        <p:spPr bwMode="auto">
          <a:xfrm>
            <a:off x="6172200" y="4773168"/>
            <a:ext cx="2697480" cy="1554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7663362" name="Rectangle 56"/>
          <p:cNvSpPr/>
          <p:nvPr/>
        </p:nvSpPr>
        <p:spPr bwMode="auto">
          <a:xfrm>
            <a:off x="6172200" y="4773168"/>
            <a:ext cx="269748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3654051" name="TextBox 57"/>
          <p:cNvSpPr txBox="1"/>
          <p:nvPr/>
        </p:nvSpPr>
        <p:spPr bwMode="auto">
          <a:xfrm>
            <a:off x="6281928" y="491032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8B5CF6"/>
                </a:solidFill>
              </a:rPr>
              <a:t>100%</a:t>
            </a:r>
            <a:endParaRPr/>
          </a:p>
        </p:txBody>
      </p:sp>
      <p:sp>
        <p:nvSpPr>
          <p:cNvPr id="97379828" name="TextBox 58"/>
          <p:cNvSpPr txBox="1"/>
          <p:nvPr/>
        </p:nvSpPr>
        <p:spPr bwMode="auto">
          <a:xfrm>
            <a:off x="6281928" y="5577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strict mode</a:t>
            </a:r>
            <a:endParaRPr/>
          </a:p>
        </p:txBody>
      </p:sp>
      <p:sp>
        <p:nvSpPr>
          <p:cNvPr id="1058126328" name="TextBox 59"/>
          <p:cNvSpPr txBox="1"/>
          <p:nvPr/>
        </p:nvSpPr>
        <p:spPr bwMode="auto">
          <a:xfrm>
            <a:off x="6281928" y="5870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</a:rPr>
              <a:t>Cobertura TypeScript</a:t>
            </a:r>
            <a:endParaRPr/>
          </a:p>
        </p:txBody>
      </p:sp>
      <p:sp>
        <p:nvSpPr>
          <p:cNvPr id="867643401" name="Rectangle 60"/>
          <p:cNvSpPr/>
          <p:nvPr/>
        </p:nvSpPr>
        <p:spPr bwMode="auto">
          <a:xfrm>
            <a:off x="9098280" y="4773168"/>
            <a:ext cx="2697480" cy="1554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4593348" name="Rectangle 61"/>
          <p:cNvSpPr/>
          <p:nvPr/>
        </p:nvSpPr>
        <p:spPr bwMode="auto">
          <a:xfrm>
            <a:off x="9098280" y="4773168"/>
            <a:ext cx="269748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7187586" name="TextBox 62"/>
          <p:cNvSpPr txBox="1"/>
          <p:nvPr/>
        </p:nvSpPr>
        <p:spPr bwMode="auto">
          <a:xfrm>
            <a:off x="9208008" y="4910328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22C55E"/>
                </a:solidFill>
              </a:rPr>
              <a:t>3</a:t>
            </a:r>
            <a:endParaRPr/>
          </a:p>
        </p:txBody>
      </p:sp>
      <p:sp>
        <p:nvSpPr>
          <p:cNvPr id="639061818" name="TextBox 63"/>
          <p:cNvSpPr txBox="1"/>
          <p:nvPr/>
        </p:nvSpPr>
        <p:spPr bwMode="auto">
          <a:xfrm>
            <a:off x="9208008" y="55778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0">
                <a:solidFill>
                  <a:srgbClr val="8A9BB0"/>
                </a:solidFill>
              </a:rPr>
              <a:t>lint/type/test</a:t>
            </a:r>
            <a:endParaRPr/>
          </a:p>
        </p:txBody>
      </p:sp>
      <p:sp>
        <p:nvSpPr>
          <p:cNvPr id="775045774" name="TextBox 64"/>
          <p:cNvSpPr txBox="1"/>
          <p:nvPr/>
        </p:nvSpPr>
        <p:spPr bwMode="auto">
          <a:xfrm>
            <a:off x="9208008" y="5870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</a:rPr>
              <a:t>Ambientes CI testados</a:t>
            </a:r>
            <a:endParaRPr/>
          </a:p>
        </p:txBody>
      </p:sp>
      <p:sp>
        <p:nvSpPr>
          <p:cNvPr id="350995941" name="TextBox 65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006037" name="Rectangle 1"/>
          <p:cNvSpPr/>
          <p:nvPr/>
        </p:nvSpPr>
        <p:spPr bwMode="auto">
          <a:xfrm>
            <a:off x="0" y="0"/>
            <a:ext cx="12188952" cy="11887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4470063" name="Rectangle 2"/>
          <p:cNvSpPr/>
          <p:nvPr/>
        </p:nvSpPr>
        <p:spPr bwMode="auto">
          <a:xfrm>
            <a:off x="457200" y="1161288"/>
            <a:ext cx="112745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8187123" name="TextBox 3"/>
          <p:cNvSpPr txBox="1"/>
          <p:nvPr/>
        </p:nvSpPr>
        <p:spPr bwMode="auto"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</a:rPr>
              <a:t>09 · Conclusão</a:t>
            </a:r>
            <a:endParaRPr/>
          </a:p>
        </p:txBody>
      </p:sp>
      <p:sp>
        <p:nvSpPr>
          <p:cNvPr id="1486042681" name="TextBox 4"/>
          <p:cNvSpPr txBox="1"/>
          <p:nvPr/>
        </p:nvSpPr>
        <p:spPr bwMode="auto">
          <a:xfrm>
            <a:off x="457200" y="7498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8A9BB0"/>
                </a:solidFill>
              </a:rPr>
              <a:t>O que o projeto demonstra sobre Arquitetura de Software</a:t>
            </a:r>
            <a:endParaRPr/>
          </a:p>
        </p:txBody>
      </p:sp>
      <p:sp>
        <p:nvSpPr>
          <p:cNvPr id="1442545552" name="Rectangle 5"/>
          <p:cNvSpPr/>
          <p:nvPr/>
        </p:nvSpPr>
        <p:spPr bwMode="auto">
          <a:xfrm>
            <a:off x="365760" y="1389888"/>
            <a:ext cx="11430000" cy="89611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3323649" name="Rectangle 6"/>
          <p:cNvSpPr/>
          <p:nvPr/>
        </p:nvSpPr>
        <p:spPr bwMode="auto">
          <a:xfrm>
            <a:off x="365760" y="1389888"/>
            <a:ext cx="73152" cy="8961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6997767" name="TextBox 7"/>
          <p:cNvSpPr txBox="1"/>
          <p:nvPr/>
        </p:nvSpPr>
        <p:spPr bwMode="auto">
          <a:xfrm>
            <a:off x="566928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22C55E"/>
                </a:solidFill>
              </a:rPr>
              <a:t>Clean Code</a:t>
            </a:r>
            <a:endParaRPr/>
          </a:p>
        </p:txBody>
      </p:sp>
      <p:sp>
        <p:nvSpPr>
          <p:cNvPr id="199478309" name="TextBox 8"/>
          <p:cNvSpPr txBox="1"/>
          <p:nvPr/>
        </p:nvSpPr>
        <p:spPr bwMode="auto">
          <a:xfrm>
            <a:off x="2514600" y="1499616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Código legível, módulos com responsabilidade única, sem comentários desnecessários. Qualquer desenvolvedor consegue entender e evoluir o sistema.</a:t>
            </a:r>
            <a:endParaRPr/>
          </a:p>
        </p:txBody>
      </p:sp>
      <p:sp>
        <p:nvSpPr>
          <p:cNvPr id="1640163347" name="Rectangle 9"/>
          <p:cNvSpPr/>
          <p:nvPr/>
        </p:nvSpPr>
        <p:spPr bwMode="auto">
          <a:xfrm>
            <a:off x="365760" y="2395728"/>
            <a:ext cx="11430000" cy="89611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4347199" name="Rectangle 10"/>
          <p:cNvSpPr/>
          <p:nvPr/>
        </p:nvSpPr>
        <p:spPr bwMode="auto">
          <a:xfrm>
            <a:off x="365760" y="2395728"/>
            <a:ext cx="73152" cy="8961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6032479" name="TextBox 11"/>
          <p:cNvSpPr txBox="1"/>
          <p:nvPr/>
        </p:nvSpPr>
        <p:spPr bwMode="auto">
          <a:xfrm>
            <a:off x="566928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3B82F6"/>
                </a:solidFill>
              </a:rPr>
              <a:t>TDD</a:t>
            </a:r>
            <a:endParaRPr/>
          </a:p>
        </p:txBody>
      </p:sp>
      <p:sp>
        <p:nvSpPr>
          <p:cNvPr id="1675058080" name="TextBox 12"/>
          <p:cNvSpPr txBox="1"/>
          <p:nvPr/>
        </p:nvSpPr>
        <p:spPr bwMode="auto">
          <a:xfrm>
            <a:off x="2514600" y="2505456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28 testes unitários documentam o comportamento esperado. Mudanças são validadas automaticamente — regressões são detectadas antes do deploy.</a:t>
            </a:r>
            <a:endParaRPr/>
          </a:p>
        </p:txBody>
      </p:sp>
      <p:sp>
        <p:nvSpPr>
          <p:cNvPr id="1303087917" name="Rectangle 13"/>
          <p:cNvSpPr/>
          <p:nvPr/>
        </p:nvSpPr>
        <p:spPr bwMode="auto">
          <a:xfrm>
            <a:off x="365760" y="3401568"/>
            <a:ext cx="11430000" cy="89611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9863930" name="Rectangle 14"/>
          <p:cNvSpPr/>
          <p:nvPr/>
        </p:nvSpPr>
        <p:spPr bwMode="auto">
          <a:xfrm>
            <a:off x="365760" y="3401568"/>
            <a:ext cx="73152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5486149" name="TextBox 15"/>
          <p:cNvSpPr txBox="1"/>
          <p:nvPr/>
        </p:nvSpPr>
        <p:spPr bwMode="auto">
          <a:xfrm>
            <a:off x="566928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8B5CF6"/>
                </a:solidFill>
              </a:rPr>
              <a:t>BDD</a:t>
            </a:r>
            <a:endParaRPr/>
          </a:p>
        </p:txBody>
      </p:sp>
      <p:sp>
        <p:nvSpPr>
          <p:cNvPr id="624359997" name="TextBox 16"/>
          <p:cNvSpPr txBox="1"/>
          <p:nvPr/>
        </p:nvSpPr>
        <p:spPr bwMode="auto">
          <a:xfrm>
            <a:off x="2514600" y="3511296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Cenários Gherkin em linguagem natural descrevem os fluxos de negócio. Stakeholders lêem e validam sem precisar entender código.</a:t>
            </a:r>
            <a:endParaRPr/>
          </a:p>
        </p:txBody>
      </p:sp>
      <p:sp>
        <p:nvSpPr>
          <p:cNvPr id="54052474" name="Rectangle 17"/>
          <p:cNvSpPr/>
          <p:nvPr/>
        </p:nvSpPr>
        <p:spPr bwMode="auto">
          <a:xfrm>
            <a:off x="365760" y="4407408"/>
            <a:ext cx="11430000" cy="89611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5979161" name="Rectangle 18"/>
          <p:cNvSpPr/>
          <p:nvPr/>
        </p:nvSpPr>
        <p:spPr bwMode="auto">
          <a:xfrm>
            <a:off x="365760" y="4407408"/>
            <a:ext cx="73152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4346689" name="TextBox 19"/>
          <p:cNvSpPr txBox="1"/>
          <p:nvPr/>
        </p:nvSpPr>
        <p:spPr bwMode="auto">
          <a:xfrm>
            <a:off x="566928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F59E0B"/>
                </a:solidFill>
              </a:rPr>
              <a:t>Microserviços</a:t>
            </a:r>
            <a:endParaRPr/>
          </a:p>
        </p:txBody>
      </p:sp>
      <p:sp>
        <p:nvSpPr>
          <p:cNvPr id="1232354001" name="TextBox 20"/>
          <p:cNvSpPr txBox="1"/>
          <p:nvPr/>
        </p:nvSpPr>
        <p:spPr bwMode="auto">
          <a:xfrm>
            <a:off x="2514600" y="4517136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8 funções serverless independentes com responsabilidade única. Falha isolada, deploy independente, escala automática por demanda.</a:t>
            </a:r>
            <a:endParaRPr/>
          </a:p>
        </p:txBody>
      </p:sp>
      <p:sp>
        <p:nvSpPr>
          <p:cNvPr id="1258176984" name="Rectangle 21"/>
          <p:cNvSpPr/>
          <p:nvPr/>
        </p:nvSpPr>
        <p:spPr bwMode="auto">
          <a:xfrm>
            <a:off x="365760" y="5413248"/>
            <a:ext cx="11430000" cy="896112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091084" name="Rectangle 22"/>
          <p:cNvSpPr/>
          <p:nvPr/>
        </p:nvSpPr>
        <p:spPr bwMode="auto">
          <a:xfrm>
            <a:off x="365760" y="5413248"/>
            <a:ext cx="73152" cy="8961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2420318" name="TextBox 23"/>
          <p:cNvSpPr txBox="1"/>
          <p:nvPr/>
        </p:nvSpPr>
        <p:spPr bwMode="auto">
          <a:xfrm>
            <a:off x="566928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EF4444"/>
                </a:solidFill>
              </a:rPr>
              <a:t>Segurança</a:t>
            </a:r>
            <a:endParaRPr/>
          </a:p>
        </p:txBody>
      </p:sp>
      <p:sp>
        <p:nvSpPr>
          <p:cNvPr id="291953007" name="TextBox 24"/>
          <p:cNvSpPr txBox="1"/>
          <p:nvPr/>
        </p:nvSpPr>
        <p:spPr bwMode="auto">
          <a:xfrm>
            <a:off x="2514600" y="5522976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E2E8F0"/>
                </a:solidFill>
              </a:rPr>
              <a:t>Defesa em 5 camadas: HTTPS, HttpOnly Cookie, Rate Limiting, HMAC assinado, Argon2+Pepper. Cada camada endereça um vetor de ataque específico.</a:t>
            </a:r>
            <a:endParaRPr/>
          </a:p>
        </p:txBody>
      </p:sp>
      <p:sp>
        <p:nvSpPr>
          <p:cNvPr id="688956305" name="Rectangle 25"/>
          <p:cNvSpPr/>
          <p:nvPr/>
        </p:nvSpPr>
        <p:spPr bwMode="auto">
          <a:xfrm>
            <a:off x="365760" y="6400800"/>
            <a:ext cx="11430000" cy="2743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3186706" name="TextBox 26"/>
          <p:cNvSpPr txBox="1"/>
          <p:nvPr/>
        </p:nvSpPr>
        <p:spPr bwMode="auto">
          <a:xfrm>
            <a:off x="457200" y="64190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000" b="0" i="1">
                <a:solidFill>
                  <a:srgbClr val="8A9BB0"/>
                </a:solidFill>
              </a:rPr>
              <a:t>"Arquitetura de software não é sobre ferramentas — é sobre decisões que permitem o sistema crescer sem se tornar um problema."</a:t>
            </a:r>
            <a:endParaRPr/>
          </a:p>
        </p:txBody>
      </p:sp>
      <p:sp>
        <p:nvSpPr>
          <p:cNvPr id="1402843912" name="TextBox 27"/>
          <p:cNvSpPr txBox="1"/>
          <p:nvPr/>
        </p:nvSpPr>
        <p:spPr bwMode="auto"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900" b="0" i="0">
                <a:solidFill>
                  <a:srgbClr val="8A9BB0"/>
                </a:solidFill>
              </a:rPr>
              <a:t>S4 Assessoria | Arquitetura de Software | Univassoras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326274" name="Rectangle 1"/>
          <p:cNvSpPr/>
          <p:nvPr/>
        </p:nvSpPr>
        <p:spPr bwMode="auto"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0485024" name="Rectangle 2"/>
          <p:cNvSpPr/>
          <p:nvPr/>
        </p:nvSpPr>
        <p:spPr bwMode="auto">
          <a:xfrm>
            <a:off x="1371600" y="822960"/>
            <a:ext cx="9445752" cy="530352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5361975" name="Rectangle 3"/>
          <p:cNvSpPr/>
          <p:nvPr/>
        </p:nvSpPr>
        <p:spPr bwMode="auto">
          <a:xfrm>
            <a:off x="1371600" y="822960"/>
            <a:ext cx="109728" cy="5303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6714704" name="TextBox 4"/>
          <p:cNvSpPr txBox="1"/>
          <p:nvPr/>
        </p:nvSpPr>
        <p:spPr bwMode="auto">
          <a:xfrm>
            <a:off x="1828800" y="10515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5200" b="1" i="0">
                <a:solidFill>
                  <a:srgbClr val="FFFFFF"/>
                </a:solidFill>
              </a:rPr>
              <a:t>Obrigado!</a:t>
            </a:r>
            <a:endParaRPr/>
          </a:p>
        </p:txBody>
      </p:sp>
      <p:sp>
        <p:nvSpPr>
          <p:cNvPr id="1945430181" name="Rectangle 5"/>
          <p:cNvSpPr/>
          <p:nvPr/>
        </p:nvSpPr>
        <p:spPr bwMode="auto">
          <a:xfrm>
            <a:off x="2286000" y="2011680"/>
            <a:ext cx="7616952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5818895" name="TextBox 6"/>
          <p:cNvSpPr txBox="1"/>
          <p:nvPr/>
        </p:nvSpPr>
        <p:spPr bwMode="auto">
          <a:xfrm>
            <a:off x="1828800" y="2148840"/>
            <a:ext cx="8687160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 b="0" i="1">
                <a:solidFill>
                  <a:srgbClr val="3B82F6"/>
                </a:solidFill>
              </a:rPr>
              <a:t>S4 Assessoria  Gestão e Tecnologia para PMEs</a:t>
            </a:r>
            <a:endParaRPr/>
          </a:p>
        </p:txBody>
      </p:sp>
      <p:sp>
        <p:nvSpPr>
          <p:cNvPr id="1743787070" name="TextBox 7"/>
          <p:cNvSpPr txBox="1"/>
          <p:nvPr/>
        </p:nvSpPr>
        <p:spPr bwMode="auto">
          <a:xfrm>
            <a:off x="2560320" y="2788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8A9BB0"/>
                </a:solidFill>
              </a:rPr>
              <a:t>Autor:</a:t>
            </a:r>
            <a:endParaRPr/>
          </a:p>
        </p:txBody>
      </p:sp>
      <p:sp>
        <p:nvSpPr>
          <p:cNvPr id="438078670" name="TextBox 8"/>
          <p:cNvSpPr txBox="1"/>
          <p:nvPr/>
        </p:nvSpPr>
        <p:spPr bwMode="auto">
          <a:xfrm>
            <a:off x="4663440" y="27889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Sérgio Murilo Nogueira</a:t>
            </a:r>
            <a:endParaRPr/>
          </a:p>
        </p:txBody>
      </p:sp>
      <p:sp>
        <p:nvSpPr>
          <p:cNvPr id="1138248645" name="TextBox 9"/>
          <p:cNvSpPr txBox="1"/>
          <p:nvPr/>
        </p:nvSpPr>
        <p:spPr bwMode="auto">
          <a:xfrm>
            <a:off x="2560320" y="32278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8A9BB0"/>
                </a:solidFill>
              </a:rPr>
              <a:t>Professor:</a:t>
            </a:r>
            <a:endParaRPr/>
          </a:p>
        </p:txBody>
      </p:sp>
      <p:sp>
        <p:nvSpPr>
          <p:cNvPr id="2137993500" name="TextBox 10"/>
          <p:cNvSpPr txBox="1"/>
          <p:nvPr/>
        </p:nvSpPr>
        <p:spPr bwMode="auto">
          <a:xfrm>
            <a:off x="4663440" y="322783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Marcio Garrido</a:t>
            </a:r>
            <a:endParaRPr/>
          </a:p>
        </p:txBody>
      </p:sp>
      <p:sp>
        <p:nvSpPr>
          <p:cNvPr id="993679941" name="TextBox 11"/>
          <p:cNvSpPr txBox="1"/>
          <p:nvPr/>
        </p:nvSpPr>
        <p:spPr bwMode="auto">
          <a:xfrm>
            <a:off x="2560320" y="36667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8A9BB0"/>
                </a:solidFill>
              </a:rPr>
              <a:t>Instituição:</a:t>
            </a:r>
            <a:endParaRPr/>
          </a:p>
        </p:txBody>
      </p:sp>
      <p:sp>
        <p:nvSpPr>
          <p:cNvPr id="583804172" name="TextBox 12"/>
          <p:cNvSpPr txBox="1"/>
          <p:nvPr/>
        </p:nvSpPr>
        <p:spPr bwMode="auto">
          <a:xfrm>
            <a:off x="4663440" y="366674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Univassoras</a:t>
            </a:r>
            <a:endParaRPr/>
          </a:p>
        </p:txBody>
      </p:sp>
      <p:sp>
        <p:nvSpPr>
          <p:cNvPr id="1682859303" name="TextBox 13"/>
          <p:cNvSpPr txBox="1"/>
          <p:nvPr/>
        </p:nvSpPr>
        <p:spPr bwMode="auto">
          <a:xfrm>
            <a:off x="2560320" y="41056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8A9BB0"/>
                </a:solidFill>
              </a:rPr>
              <a:t>Disciplina:</a:t>
            </a:r>
            <a:endParaRPr/>
          </a:p>
        </p:txBody>
      </p:sp>
      <p:sp>
        <p:nvSpPr>
          <p:cNvPr id="1035029422" name="TextBox 14"/>
          <p:cNvSpPr txBox="1"/>
          <p:nvPr/>
        </p:nvSpPr>
        <p:spPr bwMode="auto">
          <a:xfrm>
            <a:off x="4663440" y="410565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Arquitetura de Software</a:t>
            </a:r>
            <a:endParaRPr/>
          </a:p>
        </p:txBody>
      </p:sp>
      <p:sp>
        <p:nvSpPr>
          <p:cNvPr id="1890754385" name="TextBox 15"/>
          <p:cNvSpPr txBox="1"/>
          <p:nvPr/>
        </p:nvSpPr>
        <p:spPr bwMode="auto">
          <a:xfrm>
            <a:off x="2560320" y="4544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8A9BB0"/>
                </a:solidFill>
              </a:rPr>
              <a:t>Projeto:</a:t>
            </a:r>
            <a:endParaRPr/>
          </a:p>
        </p:txBody>
      </p:sp>
      <p:sp>
        <p:nvSpPr>
          <p:cNvPr id="1374245126" name="TextBox 16"/>
          <p:cNvSpPr txBox="1"/>
          <p:nvPr/>
        </p:nvSpPr>
        <p:spPr bwMode="auto">
          <a:xfrm>
            <a:off x="4663440" y="45445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s4assessoria.com.br</a:t>
            </a:r>
            <a:endParaRPr/>
          </a:p>
        </p:txBody>
      </p:sp>
      <p:sp>
        <p:nvSpPr>
          <p:cNvPr id="1214455517" name="TextBox 17"/>
          <p:cNvSpPr txBox="1"/>
          <p:nvPr/>
        </p:nvSpPr>
        <p:spPr bwMode="auto">
          <a:xfrm>
            <a:off x="2560320" y="498347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8A9BB0"/>
                </a:solidFill>
              </a:rPr>
              <a:t>GitHub:</a:t>
            </a:r>
            <a:endParaRPr/>
          </a:p>
        </p:txBody>
      </p:sp>
      <p:sp>
        <p:nvSpPr>
          <p:cNvPr id="127319309" name="TextBox 18"/>
          <p:cNvSpPr txBox="1"/>
          <p:nvPr/>
        </p:nvSpPr>
        <p:spPr bwMode="auto">
          <a:xfrm>
            <a:off x="4663440" y="4983479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 i="0">
                <a:solidFill>
                  <a:srgbClr val="FFFFFF"/>
                </a:solidFill>
              </a:rPr>
              <a:t>github.com/MuriloTBS/s4-assessoria</a:t>
            </a:r>
            <a:endParaRPr/>
          </a:p>
        </p:txBody>
      </p:sp>
      <p:sp>
        <p:nvSpPr>
          <p:cNvPr id="1855852266" name="Rectangle 19"/>
          <p:cNvSpPr/>
          <p:nvPr/>
        </p:nvSpPr>
        <p:spPr bwMode="auto">
          <a:xfrm>
            <a:off x="1920240" y="5547142"/>
            <a:ext cx="160020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1377187" name="TextBox 20"/>
          <p:cNvSpPr txBox="1"/>
          <p:nvPr/>
        </p:nvSpPr>
        <p:spPr bwMode="auto">
          <a:xfrm>
            <a:off x="1965960" y="5633465"/>
            <a:ext cx="1508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Clean Code</a:t>
            </a:r>
            <a:endParaRPr/>
          </a:p>
        </p:txBody>
      </p:sp>
      <p:sp>
        <p:nvSpPr>
          <p:cNvPr id="575425607" name="Rectangle 21"/>
          <p:cNvSpPr/>
          <p:nvPr/>
        </p:nvSpPr>
        <p:spPr bwMode="auto">
          <a:xfrm>
            <a:off x="3602735" y="5547142"/>
            <a:ext cx="160020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3661822" name="TextBox 22"/>
          <p:cNvSpPr txBox="1"/>
          <p:nvPr/>
        </p:nvSpPr>
        <p:spPr bwMode="auto">
          <a:xfrm>
            <a:off x="3648456" y="5633465"/>
            <a:ext cx="1508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TDD</a:t>
            </a:r>
            <a:endParaRPr/>
          </a:p>
        </p:txBody>
      </p:sp>
      <p:sp>
        <p:nvSpPr>
          <p:cNvPr id="466959127" name="Rectangle 23"/>
          <p:cNvSpPr/>
          <p:nvPr/>
        </p:nvSpPr>
        <p:spPr bwMode="auto">
          <a:xfrm>
            <a:off x="5285232" y="5547142"/>
            <a:ext cx="160020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432514" name="TextBox 24"/>
          <p:cNvSpPr txBox="1"/>
          <p:nvPr/>
        </p:nvSpPr>
        <p:spPr bwMode="auto">
          <a:xfrm>
            <a:off x="5330952" y="5633465"/>
            <a:ext cx="1508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BDD</a:t>
            </a:r>
            <a:endParaRPr/>
          </a:p>
        </p:txBody>
      </p:sp>
      <p:sp>
        <p:nvSpPr>
          <p:cNvPr id="128742904" name="Rectangle 25"/>
          <p:cNvSpPr/>
          <p:nvPr/>
        </p:nvSpPr>
        <p:spPr bwMode="auto">
          <a:xfrm>
            <a:off x="6967728" y="5547142"/>
            <a:ext cx="16002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175566" name="TextBox 26"/>
          <p:cNvSpPr txBox="1"/>
          <p:nvPr/>
        </p:nvSpPr>
        <p:spPr bwMode="auto">
          <a:xfrm>
            <a:off x="7013448" y="5633465"/>
            <a:ext cx="1508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Microserviços</a:t>
            </a:r>
            <a:endParaRPr/>
          </a:p>
        </p:txBody>
      </p:sp>
      <p:sp>
        <p:nvSpPr>
          <p:cNvPr id="825879931" name="Rectangle 27"/>
          <p:cNvSpPr/>
          <p:nvPr/>
        </p:nvSpPr>
        <p:spPr bwMode="auto">
          <a:xfrm>
            <a:off x="8650224" y="5547142"/>
            <a:ext cx="16002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1145015" name="TextBox 28"/>
          <p:cNvSpPr txBox="1"/>
          <p:nvPr/>
        </p:nvSpPr>
        <p:spPr bwMode="auto">
          <a:xfrm>
            <a:off x="8695944" y="5633465"/>
            <a:ext cx="1508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</a:rPr>
              <a:t>Segurança</a:t>
            </a:r>
            <a:endParaRPr/>
          </a:p>
        </p:txBody>
      </p:sp>
      <p:sp>
        <p:nvSpPr>
          <p:cNvPr id="445037616" name="Rectangle 29"/>
          <p:cNvSpPr/>
          <p:nvPr/>
        </p:nvSpPr>
        <p:spPr bwMode="auto">
          <a:xfrm>
            <a:off x="0" y="678484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2026-06-17T15:18:08Z</dcterms:modified>
  <cp:category/>
</cp:coreProperties>
</file>